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69" r:id="rId4"/>
    <p:sldId id="270" r:id="rId5"/>
    <p:sldId id="258" r:id="rId6"/>
    <p:sldId id="259" r:id="rId7"/>
    <p:sldId id="260" r:id="rId8"/>
    <p:sldId id="271" r:id="rId9"/>
    <p:sldId id="272" r:id="rId10"/>
    <p:sldId id="273" r:id="rId11"/>
    <p:sldId id="261" r:id="rId12"/>
    <p:sldId id="267" r:id="rId13"/>
    <p:sldId id="262" r:id="rId14"/>
    <p:sldId id="263" r:id="rId15"/>
    <p:sldId id="268" r:id="rId16"/>
    <p:sldId id="264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65" r:id="rId25"/>
    <p:sldId id="281" r:id="rId26"/>
    <p:sldId id="283" r:id="rId27"/>
    <p:sldId id="284" r:id="rId28"/>
    <p:sldId id="286" r:id="rId29"/>
    <p:sldId id="287" r:id="rId30"/>
    <p:sldId id="288" r:id="rId31"/>
    <p:sldId id="289" r:id="rId32"/>
    <p:sldId id="290" r:id="rId33"/>
    <p:sldId id="291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11D"/>
    <a:srgbClr val="110E20"/>
    <a:srgbClr val="1F1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75" autoAdjust="0"/>
    <p:restoredTop sz="94660"/>
  </p:normalViewPr>
  <p:slideViewPr>
    <p:cSldViewPr snapToGrid="0">
      <p:cViewPr varScale="1">
        <p:scale>
          <a:sx n="75" d="100"/>
          <a:sy n="75" d="100"/>
        </p:scale>
        <p:origin x="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2A040-A451-4CB4-AE05-6BFDA0D12BD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46922-AEB4-4E37-951D-32FCDADC0A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64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D6524-C5DF-4344-A05D-2AA082C8C1B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043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11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42A3A-BAB2-C3D1-759D-88D3A3B95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402DCA-0AED-EB77-1236-4F9954E76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A0605B-DE46-F086-55C6-05E30B6A4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CBDD86-58A9-16DA-3153-EAD94B90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4DF1DE-7AEF-9D5B-8C79-A233D525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7381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F9501-1078-C0C9-49A9-DA384BCB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F31236-BA93-036A-4329-6699C0775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BC12AB-75CB-675B-8E8C-BE22F935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9EDF5E-0E77-7E1B-B900-30966AD6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84928-E62A-D7E9-9EE4-608C5FAE5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312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91926-D0BA-8AFF-D20C-EEADE3AFC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5DA29D-ABC0-39CB-E14F-2C1099E35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771F86-352D-C3C6-5C17-116C3F85D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B40BE8-F9A4-4BD1-4B97-29D3E6D8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288E0E-8593-D999-1602-40234B36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827A3-C250-F4FC-7511-DD458276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8F75A-9A9A-581F-D707-B4D0AD100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B7385D-7104-1558-2B10-88CFE4E6F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FB6606-2CF1-E6D5-5A92-274B7473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EE646B-2060-BC8F-D85E-3D213786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20CA72-A676-D6DE-BE3B-DB10F44E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290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CDA8C-46E1-D60E-4695-48919E7E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6A59EB-39C8-E7F1-7A72-1C2A37614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16469A-4391-3F6A-035B-C83284B7B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215586F-EB0C-56F5-0CAA-8615BDA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4F7DA8-F2C8-0171-3784-CF0975DA0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D7569B-D0A8-FE16-C0EF-59234578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160C63-F3D9-3903-E45E-91CDD358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390784A-A4E3-BC4F-5D61-D9537B65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6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B05409-15DB-5C89-F583-9959691FA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28998B-409D-8EF8-31D4-20AC3A09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F4D36-2E21-B58E-B957-16DB344DB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FF49B5-BCF3-9D31-87D2-B0AECA76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15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A80489-F2E0-4E66-1144-67CED068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BDD3B3-3529-6B03-10E9-CDE688E6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013BF-D3DC-8DB9-668A-D0F0AB24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372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E4BF2C-429E-FE8C-A52B-EE44BF703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2779B0-F20D-DF60-79E8-3F692BA38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06C272-B463-97CB-FA9F-57CF469E7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066AE6-558C-D180-461E-71FB03FD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85E0F3-CD80-C87B-4891-DB3E40CF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8553A0-4325-5A7A-8417-AE86967A8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2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87A94-D41A-A03E-4124-EE90E1A5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B3FB9E5-0B85-1FC9-5BC0-9E3BA3788F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B148B5-2A36-5001-E445-1E5F5E021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345572-88C2-9A4E-9D5E-E3C0F8D7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C51CC2-B7D0-1FD9-1CF5-7068AF738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3F6D4C-E0C1-1D03-DA67-B52C96421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599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410D1-7527-9458-4BA1-DEAB873E9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DA429C-8CC0-5B7B-8BD6-DBC3C6D22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53CA92-1240-EE7A-49F1-9347E784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D98F2B-1833-E26F-DE98-6D91240BB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DE1AC5-6B22-8D65-7182-B6AD35CEF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698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E08FC70-F9E8-5184-67DB-FDFE63053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D936DE-54D0-8CAB-65A3-5B60831CE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D6D99-FE5B-AC27-82E3-BFD1E91AA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58D91D-896F-7130-677C-F5E714C7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B2EE1E-0721-EB26-4D68-54D1A75B4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76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319448-528B-994F-4036-42D5BDCB1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9DCE75-C3F6-CC89-98A0-A1620E365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6592C-33DF-B684-680D-0CC2A0D832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B295D-CF88-4450-B43E-26175230DFEC}" type="datetimeFigureOut">
              <a:rPr lang="ko-KR" altLang="en-US" smtClean="0"/>
              <a:t>2026-02-25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F1745C-309A-B5A9-9B3D-5944846AF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37BC9D-AA7B-3A90-AD82-3401408B1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6A147F-EDFD-4BBE-ACBB-6427F0D81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5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450638E-D0E1-2F43-E18C-A1D58BBEC3DB}"/>
              </a:ext>
            </a:extLst>
          </p:cNvPr>
          <p:cNvSpPr txBox="1"/>
          <p:nvPr/>
        </p:nvSpPr>
        <p:spPr>
          <a:xfrm>
            <a:off x="379512" y="299392"/>
            <a:ext cx="38644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>
                <a:solidFill>
                  <a:schemeClr val="bg1"/>
                </a:solidFill>
              </a:rPr>
              <a:t>프론트 프로젝트</a:t>
            </a:r>
            <a:endParaRPr lang="ko-KR" altLang="en-US" sz="65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9AEDA-5AC4-7027-7EC3-51FC869937F8}"/>
              </a:ext>
            </a:extLst>
          </p:cNvPr>
          <p:cNvSpPr txBox="1"/>
          <p:nvPr/>
        </p:nvSpPr>
        <p:spPr>
          <a:xfrm>
            <a:off x="10080783" y="4134000"/>
            <a:ext cx="863907" cy="205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200" dirty="0">
                <a:solidFill>
                  <a:schemeClr val="bg1"/>
                </a:solidFill>
              </a:rPr>
              <a:t>이현겸</a:t>
            </a:r>
            <a:endParaRPr lang="en-US" altLang="ko-KR" sz="22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200" dirty="0">
                <a:solidFill>
                  <a:schemeClr val="bg1"/>
                </a:solidFill>
              </a:rPr>
              <a:t>박세인</a:t>
            </a:r>
            <a:endParaRPr lang="en-US" altLang="ko-KR" sz="22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200" dirty="0" err="1">
                <a:solidFill>
                  <a:schemeClr val="bg1"/>
                </a:solidFill>
              </a:rPr>
              <a:t>장해든</a:t>
            </a:r>
            <a:endParaRPr lang="en-US" altLang="ko-KR" sz="22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2200" dirty="0" err="1">
                <a:solidFill>
                  <a:schemeClr val="bg1"/>
                </a:solidFill>
              </a:rPr>
              <a:t>송주창</a:t>
            </a:r>
            <a:endParaRPr lang="ko-KR" altLang="en-US" sz="2200" dirty="0">
              <a:solidFill>
                <a:schemeClr val="bg1"/>
              </a:solidFill>
            </a:endParaRPr>
          </a:p>
        </p:txBody>
      </p:sp>
      <p:pic>
        <p:nvPicPr>
          <p:cNvPr id="1030" name="Picture 6" descr="Puma transparent white logo #1243 - Free Transparent PNG Logos">
            <a:extLst>
              <a:ext uri="{FF2B5EF4-FFF2-40B4-BE49-F238E27FC236}">
                <a16:creationId xmlns:a16="http://schemas.microsoft.com/office/drawing/2014/main" id="{CAB142F3-F8B6-86CE-6A58-603C8D924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481" y="1618820"/>
            <a:ext cx="6311436" cy="326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0674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FD4BC-7448-C5BA-E3F5-0A928309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D44E0E-248E-F659-8964-EACAA2203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574" y="1253330"/>
            <a:ext cx="7480852" cy="517286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프로젝트 개요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설계 페이지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Indexl.html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Product.html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Detail.html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Cart.html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시연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보완사항</a:t>
            </a:r>
          </a:p>
        </p:txBody>
      </p:sp>
    </p:spTree>
    <p:extLst>
      <p:ext uri="{BB962C8B-B14F-4D97-AF65-F5344CB8AC3E}">
        <p14:creationId xmlns:p14="http://schemas.microsoft.com/office/powerpoint/2010/main" val="2875450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4CFF2-9265-D439-1D9F-8436CE43D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B823F4-59B4-2B51-C8D0-322007CC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A719AB2-D96B-9767-6499-C6FA17B61A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HTML, CSS, JS</a:t>
            </a:r>
            <a:r>
              <a:rPr lang="ko-KR" altLang="en-US" dirty="0"/>
              <a:t>를 활용한 푸마 웹 페이지 구현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페이지 간 정보 주고 받기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err="1"/>
              <a:t>Github</a:t>
            </a:r>
            <a:r>
              <a:rPr lang="ko-KR" altLang="en-US" dirty="0"/>
              <a:t>를 활용한 협업 기초 배우기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73BC5B-2702-C500-8D26-9CF60C2DA185}"/>
              </a:ext>
            </a:extLst>
          </p:cNvPr>
          <p:cNvSpPr txBox="1"/>
          <p:nvPr/>
        </p:nvSpPr>
        <p:spPr>
          <a:xfrm>
            <a:off x="449425" y="1108642"/>
            <a:ext cx="1822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프로젝트 목적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711109-809D-EE0F-459A-23FC50921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288" y="3429000"/>
            <a:ext cx="3216564" cy="321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lat Puma Icon - Flaticons.net">
            <a:extLst>
              <a:ext uri="{FF2B5EF4-FFF2-40B4-BE49-F238E27FC236}">
                <a16:creationId xmlns:a16="http://schemas.microsoft.com/office/drawing/2014/main" id="{D17AB52B-CF24-6FFF-9A20-613F7BEF8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24" y="716858"/>
            <a:ext cx="2609292" cy="2609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38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889EF-C643-8113-7DC0-044EEF20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8ED196-4991-DF76-477D-81462A34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CED77DC-E035-717A-14EE-B30DA4220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06" y="1839072"/>
            <a:ext cx="11178988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PC</a:t>
            </a:r>
            <a:r>
              <a:rPr lang="ko-KR" altLang="en-US" dirty="0"/>
              <a:t>에 설치하여 </a:t>
            </a:r>
            <a:r>
              <a:rPr lang="en-US" altLang="ko-KR" dirty="0"/>
              <a:t>GUI</a:t>
            </a:r>
            <a:r>
              <a:rPr lang="ko-KR" altLang="en-US" dirty="0"/>
              <a:t>로 사용이 손쉬운 </a:t>
            </a:r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/>
              <a:t>어플리케이션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같은 파일을 동시에 수정하면 충돌이 일어난다</a:t>
            </a:r>
            <a:r>
              <a:rPr lang="en-US" altLang="ko-KR" dirty="0"/>
              <a:t> (</a:t>
            </a:r>
            <a:r>
              <a:rPr lang="ko-KR" altLang="en-US" dirty="0"/>
              <a:t>충돌을 극도로 경계한다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err="1"/>
              <a:t>레포지토리</a:t>
            </a:r>
            <a:r>
              <a:rPr lang="ko-KR" altLang="en-US" dirty="0"/>
              <a:t> 내에 개인 작업 공간</a:t>
            </a:r>
            <a:r>
              <a:rPr lang="en-US" altLang="ko-KR" dirty="0"/>
              <a:t> </a:t>
            </a:r>
            <a:r>
              <a:rPr lang="ko-KR" altLang="en-US" dirty="0"/>
              <a:t>및 규칙을 정의하여 충돌 배제 </a:t>
            </a:r>
            <a:r>
              <a:rPr lang="en-US" altLang="ko-KR" dirty="0"/>
              <a:t>/ </a:t>
            </a:r>
            <a:r>
              <a:rPr lang="ko-KR" altLang="en-US" dirty="0"/>
              <a:t>병합이 쉽도록 함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93D3B-EC25-B702-E0E3-657AB3C82C8E}"/>
              </a:ext>
            </a:extLst>
          </p:cNvPr>
          <p:cNvSpPr txBox="1"/>
          <p:nvPr/>
        </p:nvSpPr>
        <p:spPr>
          <a:xfrm>
            <a:off x="449425" y="1108642"/>
            <a:ext cx="3549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협업 도구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en-US" altLang="ko-KR" sz="2400" dirty="0" err="1">
                <a:solidFill>
                  <a:schemeClr val="bg1"/>
                </a:solidFill>
              </a:rPr>
              <a:t>Github</a:t>
            </a:r>
            <a:r>
              <a:rPr lang="en-US" altLang="ko-KR" sz="2400" dirty="0">
                <a:solidFill>
                  <a:schemeClr val="bg1"/>
                </a:solidFill>
              </a:rPr>
              <a:t> Desktop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26DEE3-92D8-C1B7-CA2A-E91C0CC61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0847" y="3898964"/>
            <a:ext cx="2762953" cy="2762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969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F668A-0187-E8F2-293C-A4C7AE5C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53FBB-ADF8-341D-532A-36AB71C10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ko-KR" altLang="en-US" dirty="0"/>
              <a:t>설계 페이지</a:t>
            </a:r>
          </a:p>
        </p:txBody>
      </p:sp>
      <p:pic>
        <p:nvPicPr>
          <p:cNvPr id="7" name="그림 6" descr="신발류, 스크린샷, 하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E83F068-54DC-E7B5-69EB-A1B74D94B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614" y="1115882"/>
            <a:ext cx="3858499" cy="1814700"/>
          </a:xfrm>
          <a:prstGeom prst="rect">
            <a:avLst/>
          </a:prstGeom>
        </p:spPr>
      </p:pic>
      <p:pic>
        <p:nvPicPr>
          <p:cNvPr id="9" name="그림 8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58E3C6-5ABA-03D5-F894-6444B4E22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14" y="1516769"/>
            <a:ext cx="3858499" cy="1838816"/>
          </a:xfrm>
          <a:prstGeom prst="rect">
            <a:avLst/>
          </a:prstGeom>
        </p:spPr>
      </p:pic>
      <p:pic>
        <p:nvPicPr>
          <p:cNvPr id="11" name="그림 10" descr="텍스트, 의류, 스크린샷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B5D6C9-3348-265C-06F2-013B91912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614" y="1941772"/>
            <a:ext cx="3858499" cy="1834796"/>
          </a:xfrm>
          <a:prstGeom prst="rect">
            <a:avLst/>
          </a:prstGeom>
        </p:spPr>
      </p:pic>
      <p:pic>
        <p:nvPicPr>
          <p:cNvPr id="13" name="그림 12" descr="텍스트, 스크린샷, 소프트웨어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4F8FBE-9658-F774-6F48-AF5F63287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15" y="2362756"/>
            <a:ext cx="3858500" cy="181068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03ADB6-CEB7-838F-296B-1400617D7C15}"/>
              </a:ext>
            </a:extLst>
          </p:cNvPr>
          <p:cNvSpPr txBox="1"/>
          <p:nvPr/>
        </p:nvSpPr>
        <p:spPr>
          <a:xfrm>
            <a:off x="5883565" y="4867564"/>
            <a:ext cx="48952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chemeClr val="bg1"/>
                </a:solidFill>
              </a:rPr>
              <a:t>메인 화면</a:t>
            </a:r>
            <a:r>
              <a:rPr lang="en-US" altLang="ko-KR" sz="3000" dirty="0">
                <a:solidFill>
                  <a:schemeClr val="bg1"/>
                </a:solidFill>
              </a:rPr>
              <a:t>(index.html) - </a:t>
            </a:r>
            <a:r>
              <a:rPr lang="ko-KR" altLang="en-US" sz="3000" dirty="0">
                <a:solidFill>
                  <a:schemeClr val="bg1"/>
                </a:solidFill>
              </a:rPr>
              <a:t>박세인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E979CA-8046-376F-3507-A102E1A49BA3}"/>
              </a:ext>
            </a:extLst>
          </p:cNvPr>
          <p:cNvSpPr txBox="1"/>
          <p:nvPr/>
        </p:nvSpPr>
        <p:spPr>
          <a:xfrm>
            <a:off x="5438714" y="4867564"/>
            <a:ext cx="57849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chemeClr val="bg1"/>
                </a:solidFill>
              </a:rPr>
              <a:t>신상품 화면</a:t>
            </a:r>
            <a:r>
              <a:rPr lang="en-US" altLang="ko-KR" sz="3000" dirty="0">
                <a:solidFill>
                  <a:schemeClr val="bg1"/>
                </a:solidFill>
              </a:rPr>
              <a:t>(product.html) - </a:t>
            </a:r>
            <a:r>
              <a:rPr lang="ko-KR" altLang="en-US" sz="3000" dirty="0" err="1">
                <a:solidFill>
                  <a:schemeClr val="bg1"/>
                </a:solidFill>
              </a:rPr>
              <a:t>장해든</a:t>
            </a:r>
            <a:endParaRPr lang="ko-KR" altLang="en-US" sz="30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2D9A8-5BC5-35D0-5FB2-EDECAE628F72}"/>
              </a:ext>
            </a:extLst>
          </p:cNvPr>
          <p:cNvSpPr txBox="1"/>
          <p:nvPr/>
        </p:nvSpPr>
        <p:spPr>
          <a:xfrm>
            <a:off x="5438714" y="4883536"/>
            <a:ext cx="57849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chemeClr val="bg1"/>
                </a:solidFill>
              </a:rPr>
              <a:t>상품 상세 화면</a:t>
            </a:r>
            <a:r>
              <a:rPr lang="en-US" altLang="ko-KR" sz="3000" dirty="0">
                <a:solidFill>
                  <a:schemeClr val="bg1"/>
                </a:solidFill>
              </a:rPr>
              <a:t>(detail.html) - </a:t>
            </a:r>
            <a:r>
              <a:rPr lang="ko-KR" altLang="en-US" sz="3000" dirty="0">
                <a:solidFill>
                  <a:schemeClr val="bg1"/>
                </a:solidFill>
              </a:rPr>
              <a:t>이현겸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59E8AD-108F-B50D-B225-1973CE776B48}"/>
              </a:ext>
            </a:extLst>
          </p:cNvPr>
          <p:cNvSpPr txBox="1"/>
          <p:nvPr/>
        </p:nvSpPr>
        <p:spPr>
          <a:xfrm>
            <a:off x="5438714" y="4848515"/>
            <a:ext cx="57849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chemeClr val="bg1"/>
                </a:solidFill>
              </a:rPr>
              <a:t>장바구니 화면</a:t>
            </a:r>
            <a:r>
              <a:rPr lang="en-US" altLang="ko-KR" sz="3000" dirty="0">
                <a:solidFill>
                  <a:schemeClr val="bg1"/>
                </a:solidFill>
              </a:rPr>
              <a:t>(cart.html) - </a:t>
            </a:r>
            <a:r>
              <a:rPr lang="ko-KR" altLang="en-US" sz="3000" dirty="0" err="1">
                <a:solidFill>
                  <a:schemeClr val="bg1"/>
                </a:solidFill>
              </a:rPr>
              <a:t>송주창</a:t>
            </a:r>
            <a:endParaRPr lang="ko-KR" alt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05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10000" decel="6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2.59259E-6 L 0.49648 0.1909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18" y="953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decel="49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8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8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13000" decel="6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-2.59259E-6 L 0.49414 0.13357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01" y="6667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8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8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21000" decel="6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85185E-6 L 0.49609 0.06898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05" y="3449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8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8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13000" decel="67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11111E-6 L 0.49687 0.01227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44" y="602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8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8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16" grpId="0"/>
      <p:bldP spid="16" grpId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572D-E4EB-E08D-2597-4157E4D8E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394D1E-81B4-C30E-9FFB-266192390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2800671" cy="869691"/>
          </a:xfrm>
        </p:spPr>
        <p:txBody>
          <a:bodyPr/>
          <a:lstStyle/>
          <a:p>
            <a:r>
              <a:rPr lang="en-US" altLang="ko-KR" dirty="0"/>
              <a:t>index.html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3A03F-FAF2-8E60-346F-689C0C8FC986}"/>
              </a:ext>
            </a:extLst>
          </p:cNvPr>
          <p:cNvSpPr txBox="1"/>
          <p:nvPr/>
        </p:nvSpPr>
        <p:spPr>
          <a:xfrm>
            <a:off x="449425" y="1108642"/>
            <a:ext cx="1409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설계 문서</a:t>
            </a:r>
          </a:p>
        </p:txBody>
      </p:sp>
      <p:pic>
        <p:nvPicPr>
          <p:cNvPr id="8" name="그림 7" descr="스크린샷, 도표, 텍스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09DB36-8B36-53A9-ED7E-F8D4A1FE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466" y="273326"/>
            <a:ext cx="4803067" cy="631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178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FD784-310D-3124-1221-1B70B0709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9A311E-8F87-20AD-02FF-934CBF87B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index.html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B5D309-15C9-F69D-A8F4-89D2DB8DB666}"/>
              </a:ext>
            </a:extLst>
          </p:cNvPr>
          <p:cNvSpPr txBox="1"/>
          <p:nvPr/>
        </p:nvSpPr>
        <p:spPr>
          <a:xfrm>
            <a:off x="449424" y="1108642"/>
            <a:ext cx="2816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헤더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B00C41E-AE5E-7BA2-5892-324F3B3F0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41" y="2195442"/>
            <a:ext cx="11717518" cy="539583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04B89C8-5629-6491-C836-094E23B30B9A}"/>
              </a:ext>
            </a:extLst>
          </p:cNvPr>
          <p:cNvSpPr/>
          <p:nvPr/>
        </p:nvSpPr>
        <p:spPr>
          <a:xfrm>
            <a:off x="424207" y="2266381"/>
            <a:ext cx="360000" cy="36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6C6AE-4CFE-057C-1C63-91979B91C7D0}"/>
              </a:ext>
            </a:extLst>
          </p:cNvPr>
          <p:cNvSpPr txBox="1"/>
          <p:nvPr/>
        </p:nvSpPr>
        <p:spPr>
          <a:xfrm>
            <a:off x="345863" y="1939368"/>
            <a:ext cx="516688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로고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1911C1-BFA2-C443-DB0F-71C38BFAECE9}"/>
              </a:ext>
            </a:extLst>
          </p:cNvPr>
          <p:cNvSpPr/>
          <p:nvPr/>
        </p:nvSpPr>
        <p:spPr>
          <a:xfrm>
            <a:off x="895543" y="2285235"/>
            <a:ext cx="5400000" cy="3599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7AC92-1552-9AD3-3BBB-EFE9B84B7D8E}"/>
              </a:ext>
            </a:extLst>
          </p:cNvPr>
          <p:cNvSpPr txBox="1"/>
          <p:nvPr/>
        </p:nvSpPr>
        <p:spPr>
          <a:xfrm>
            <a:off x="3157930" y="1934628"/>
            <a:ext cx="636742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nav</a:t>
            </a:r>
            <a:r>
              <a:rPr lang="ko-KR" altLang="en-US" sz="1400" b="1" dirty="0"/>
              <a:t>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F6525B-C585-8729-6860-FD1667AB8165}"/>
              </a:ext>
            </a:extLst>
          </p:cNvPr>
          <p:cNvSpPr/>
          <p:nvPr/>
        </p:nvSpPr>
        <p:spPr>
          <a:xfrm>
            <a:off x="9942603" y="2294659"/>
            <a:ext cx="1435550" cy="36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C54EAAE-E6A9-792B-C4BB-0E0E91D0AB33}"/>
              </a:ext>
            </a:extLst>
          </p:cNvPr>
          <p:cNvSpPr/>
          <p:nvPr/>
        </p:nvSpPr>
        <p:spPr>
          <a:xfrm>
            <a:off x="11407794" y="2294659"/>
            <a:ext cx="180000" cy="36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AEE5C2-16CF-F297-E833-CC191942358B}"/>
              </a:ext>
            </a:extLst>
          </p:cNvPr>
          <p:cNvSpPr txBox="1"/>
          <p:nvPr/>
        </p:nvSpPr>
        <p:spPr>
          <a:xfrm>
            <a:off x="10315194" y="1966201"/>
            <a:ext cx="714176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/>
              <a:t>검색바</a:t>
            </a:r>
            <a:endParaRPr lang="ko-KR" alt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7E4B71-9559-944F-F4E5-14710818F453}"/>
              </a:ext>
            </a:extLst>
          </p:cNvPr>
          <p:cNvSpPr txBox="1"/>
          <p:nvPr/>
        </p:nvSpPr>
        <p:spPr>
          <a:xfrm>
            <a:off x="11125099" y="1966202"/>
            <a:ext cx="925389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/>
              <a:t>장바구니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1358534-6A68-8524-B79B-F8BCAF2DB11D}"/>
              </a:ext>
            </a:extLst>
          </p:cNvPr>
          <p:cNvGrpSpPr/>
          <p:nvPr/>
        </p:nvGrpSpPr>
        <p:grpSpPr>
          <a:xfrm>
            <a:off x="1256692" y="2824818"/>
            <a:ext cx="2705573" cy="1828305"/>
            <a:chOff x="903998" y="1907700"/>
            <a:chExt cx="2705573" cy="1828305"/>
          </a:xfrm>
        </p:grpSpPr>
        <p:pic>
          <p:nvPicPr>
            <p:cNvPr id="14" name="그림 13" descr="텍스트, 폰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23A2FF8-74EE-59E2-6875-DF64A9794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5350" y="1907700"/>
              <a:ext cx="2584221" cy="122410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865BD9-2EE9-0E0C-23AD-2BE832164452}"/>
                </a:ext>
              </a:extLst>
            </p:cNvPr>
            <p:cNvSpPr txBox="1"/>
            <p:nvPr/>
          </p:nvSpPr>
          <p:spPr>
            <a:xfrm>
              <a:off x="987475" y="3212785"/>
              <a:ext cx="21361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</a:rPr>
                <a:t>화면 사이즈 줄이면 </a:t>
              </a:r>
              <a:endParaRPr lang="en-US" altLang="ko-KR" sz="1400" dirty="0">
                <a:solidFill>
                  <a:schemeClr val="bg1"/>
                </a:solidFill>
              </a:endParaRPr>
            </a:p>
            <a:p>
              <a:pPr algn="ctr"/>
              <a:r>
                <a:rPr lang="ko-KR" altLang="en-US" sz="1400" dirty="0">
                  <a:solidFill>
                    <a:schemeClr val="bg1"/>
                  </a:solidFill>
                </a:rPr>
                <a:t>메뉴 간격</a:t>
              </a:r>
              <a:r>
                <a:rPr lang="en-US" altLang="ko-KR" sz="1400" dirty="0">
                  <a:solidFill>
                    <a:schemeClr val="bg1"/>
                  </a:solidFill>
                </a:rPr>
                <a:t>, </a:t>
              </a:r>
              <a:r>
                <a:rPr lang="ko-KR" altLang="en-US" sz="1400" dirty="0">
                  <a:solidFill>
                    <a:schemeClr val="bg1"/>
                  </a:solidFill>
                </a:rPr>
                <a:t>글씨가 줄어듦</a:t>
              </a:r>
              <a:endParaRPr lang="en-US" altLang="ko-KR" sz="1400" dirty="0">
                <a:solidFill>
                  <a:schemeClr val="bg1"/>
                </a:solidFill>
              </a:endParaRPr>
            </a:p>
          </p:txBody>
        </p:sp>
        <p:cxnSp>
          <p:nvCxnSpPr>
            <p:cNvPr id="16" name="연결선: 꺾임 15">
              <a:extLst>
                <a:ext uri="{FF2B5EF4-FFF2-40B4-BE49-F238E27FC236}">
                  <a16:creationId xmlns:a16="http://schemas.microsoft.com/office/drawing/2014/main" id="{06AF871B-44F8-D444-DE1A-BA3F0753367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5246" y="2859315"/>
              <a:ext cx="620244" cy="342740"/>
            </a:xfrm>
            <a:prstGeom prst="bentConnector4">
              <a:avLst>
                <a:gd name="adj1" fmla="val 32632"/>
                <a:gd name="adj2" fmla="val 166698"/>
              </a:avLst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6365C5F-9CB1-AF4E-35D1-9949C28CAE3E}"/>
                </a:ext>
              </a:extLst>
            </p:cNvPr>
            <p:cNvSpPr/>
            <p:nvPr/>
          </p:nvSpPr>
          <p:spPr>
            <a:xfrm>
              <a:off x="1249394" y="2596796"/>
              <a:ext cx="2257378" cy="382793"/>
            </a:xfrm>
            <a:prstGeom prst="rect">
              <a:avLst/>
            </a:prstGeom>
            <a:noFill/>
            <a:ln>
              <a:solidFill>
                <a:srgbClr val="A02B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rgbClr val="A02B93"/>
                  </a:solidFill>
                </a:ln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6E60022-D1FD-AD98-AA58-91106903620F}"/>
              </a:ext>
            </a:extLst>
          </p:cNvPr>
          <p:cNvGrpSpPr/>
          <p:nvPr/>
        </p:nvGrpSpPr>
        <p:grpSpPr>
          <a:xfrm>
            <a:off x="8280555" y="2657414"/>
            <a:ext cx="3674204" cy="1571288"/>
            <a:chOff x="8270960" y="1737541"/>
            <a:chExt cx="3674204" cy="1571288"/>
          </a:xfrm>
        </p:grpSpPr>
        <p:pic>
          <p:nvPicPr>
            <p:cNvPr id="19" name="그림 18" descr="텍스트, 폰트, 스크린샷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404E82F-E885-5D4F-45C3-542BF25BF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22764" y="2613407"/>
              <a:ext cx="3622400" cy="695422"/>
            </a:xfrm>
            <a:prstGeom prst="rect">
              <a:avLst/>
            </a:prstGeom>
          </p:spPr>
        </p:pic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4E194E52-14D8-6890-4896-A4FC8FD35F33}"/>
                </a:ext>
              </a:extLst>
            </p:cNvPr>
            <p:cNvCxnSpPr>
              <a:endCxn id="19" idx="0"/>
            </p:cNvCxnSpPr>
            <p:nvPr/>
          </p:nvCxnSpPr>
          <p:spPr>
            <a:xfrm flipH="1">
              <a:off x="10133964" y="1737541"/>
              <a:ext cx="1363830" cy="8758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D9D8088-BAC8-405C-CBB6-9494BB1F5569}"/>
                </a:ext>
              </a:extLst>
            </p:cNvPr>
            <p:cNvSpPr txBox="1"/>
            <p:nvPr/>
          </p:nvSpPr>
          <p:spPr>
            <a:xfrm>
              <a:off x="8270960" y="2161795"/>
              <a:ext cx="23198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bg1"/>
                  </a:solidFill>
                </a:rPr>
                <a:t>아이콘 클릭 시 </a:t>
              </a:r>
              <a:r>
                <a:rPr lang="en-US" altLang="ko-KR" sz="1400" dirty="0">
                  <a:solidFill>
                    <a:schemeClr val="bg1"/>
                  </a:solidFill>
                </a:rPr>
                <a:t>cart.html</a:t>
              </a:r>
              <a:r>
                <a:rPr lang="ko-KR" altLang="en-US" sz="1400" dirty="0">
                  <a:solidFill>
                    <a:schemeClr val="bg1"/>
                  </a:solidFill>
                </a:rPr>
                <a:t>로 이동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202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0652-A485-CF19-5232-935DD7702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55C11-FE62-25D5-DBDC-B2D218228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index.html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8AA4D-5053-9553-57F1-D7CB01DE61AB}"/>
              </a:ext>
            </a:extLst>
          </p:cNvPr>
          <p:cNvSpPr txBox="1"/>
          <p:nvPr/>
        </p:nvSpPr>
        <p:spPr>
          <a:xfrm>
            <a:off x="449424" y="1108642"/>
            <a:ext cx="2816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헤더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69C3C56-59F4-A9DA-D123-052D9BE8C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41" y="1978333"/>
            <a:ext cx="11717518" cy="1429052"/>
          </a:xfrm>
          <a:prstGeom prst="rect">
            <a:avLst/>
          </a:prstGeom>
        </p:spPr>
      </p:pic>
      <p:pic>
        <p:nvPicPr>
          <p:cNvPr id="23" name="그림 2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C12634-53CC-E0F3-C816-F8F63A8CE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918" y="3535601"/>
            <a:ext cx="2190161" cy="20024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5017556-1956-B3E7-4BCE-0B23F851B141}"/>
              </a:ext>
            </a:extLst>
          </p:cNvPr>
          <p:cNvSpPr txBox="1"/>
          <p:nvPr/>
        </p:nvSpPr>
        <p:spPr>
          <a:xfrm>
            <a:off x="1309562" y="3941912"/>
            <a:ext cx="3190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메뉴에 마우스 </a:t>
            </a:r>
            <a:r>
              <a:rPr lang="en-US" altLang="ko-KR" sz="1400" dirty="0">
                <a:solidFill>
                  <a:schemeClr val="bg1"/>
                </a:solidFill>
              </a:rPr>
              <a:t>hover </a:t>
            </a:r>
            <a:r>
              <a:rPr lang="ko-KR" altLang="en-US" sz="1400" dirty="0">
                <a:solidFill>
                  <a:schemeClr val="bg1"/>
                </a:solidFill>
              </a:rPr>
              <a:t>시 드롭다운 메뉴 표시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6B0E485-436B-7AD2-1DC1-3515693A0C1E}"/>
              </a:ext>
            </a:extLst>
          </p:cNvPr>
          <p:cNvSpPr/>
          <p:nvPr/>
        </p:nvSpPr>
        <p:spPr>
          <a:xfrm>
            <a:off x="6228454" y="4754223"/>
            <a:ext cx="1236188" cy="338977"/>
          </a:xfrm>
          <a:prstGeom prst="rect">
            <a:avLst/>
          </a:prstGeom>
          <a:noFill/>
          <a:ln>
            <a:solidFill>
              <a:srgbClr val="A02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A02B93"/>
                </a:solidFill>
              </a:ln>
            </a:endParaRPr>
          </a:p>
        </p:txBody>
      </p:sp>
      <p:pic>
        <p:nvPicPr>
          <p:cNvPr id="26" name="그림 25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30C99D-92B9-47FF-C408-1EC0CC356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615" y="3536309"/>
            <a:ext cx="1952898" cy="73352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4EC029E-E98C-B70D-EEBF-E192DA9AA8C4}"/>
              </a:ext>
            </a:extLst>
          </p:cNvPr>
          <p:cNvSpPr txBox="1"/>
          <p:nvPr/>
        </p:nvSpPr>
        <p:spPr>
          <a:xfrm>
            <a:off x="8369580" y="4409833"/>
            <a:ext cx="2923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Opacity</a:t>
            </a:r>
            <a:r>
              <a:rPr lang="ko-KR" altLang="en-US" sz="1400" dirty="0">
                <a:solidFill>
                  <a:schemeClr val="bg1"/>
                </a:solidFill>
              </a:rPr>
              <a:t>와 </a:t>
            </a:r>
            <a:r>
              <a:rPr lang="en-US" altLang="ko-KR" sz="1400" dirty="0">
                <a:solidFill>
                  <a:schemeClr val="bg1"/>
                </a:solidFill>
              </a:rPr>
              <a:t>hidden</a:t>
            </a:r>
            <a:r>
              <a:rPr lang="ko-KR" altLang="en-US" sz="1400" dirty="0">
                <a:solidFill>
                  <a:schemeClr val="bg1"/>
                </a:solidFill>
              </a:rPr>
              <a:t>으로 보이지 않게 해두고</a:t>
            </a:r>
            <a:endParaRPr lang="en-US" altLang="ko-KR" sz="1400" dirty="0">
              <a:solidFill>
                <a:schemeClr val="bg1"/>
              </a:solidFill>
            </a:endParaRPr>
          </a:p>
          <a:p>
            <a:r>
              <a:rPr lang="ko-KR" altLang="en-US" sz="1400" dirty="0">
                <a:solidFill>
                  <a:schemeClr val="bg1"/>
                </a:solidFill>
              </a:rPr>
              <a:t>마우스 </a:t>
            </a:r>
            <a:r>
              <a:rPr lang="en-US" altLang="ko-KR" sz="1400" dirty="0">
                <a:solidFill>
                  <a:schemeClr val="bg1"/>
                </a:solidFill>
              </a:rPr>
              <a:t>hover </a:t>
            </a:r>
            <a:r>
              <a:rPr lang="ko-KR" altLang="en-US" sz="1400" dirty="0">
                <a:solidFill>
                  <a:schemeClr val="bg1"/>
                </a:solidFill>
              </a:rPr>
              <a:t>시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보이도록 함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5F34B35-0447-612B-ED99-99FE99227766}"/>
              </a:ext>
            </a:extLst>
          </p:cNvPr>
          <p:cNvSpPr/>
          <p:nvPr/>
        </p:nvSpPr>
        <p:spPr>
          <a:xfrm>
            <a:off x="237240" y="2512860"/>
            <a:ext cx="11717517" cy="882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45C432E-242C-F02D-B329-B53731F17A6A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2904722" y="3429000"/>
            <a:ext cx="1" cy="5129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363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D8E2D-D605-686C-0C58-A71777DC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78786A-5814-0793-7702-0E389B76C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index.html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575666-1539-1CA3-588D-F32A5EC6415B}"/>
              </a:ext>
            </a:extLst>
          </p:cNvPr>
          <p:cNvSpPr txBox="1"/>
          <p:nvPr/>
        </p:nvSpPr>
        <p:spPr>
          <a:xfrm>
            <a:off x="449424" y="1108642"/>
            <a:ext cx="2816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메인 컨텐츠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그림 3" descr="의류, 여성, 콜라주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1FCCCA-231E-ED45-3C99-F0023EEA2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44166"/>
            <a:ext cx="5837492" cy="2199813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51977981-8770-87E8-0D14-43DDCBBEEAE2}"/>
              </a:ext>
            </a:extLst>
          </p:cNvPr>
          <p:cNvGrpSpPr/>
          <p:nvPr/>
        </p:nvGrpSpPr>
        <p:grpSpPr>
          <a:xfrm>
            <a:off x="347721" y="1644073"/>
            <a:ext cx="4221602" cy="4566226"/>
            <a:chOff x="347720" y="1052974"/>
            <a:chExt cx="5218133" cy="5667375"/>
          </a:xfrm>
        </p:grpSpPr>
        <p:pic>
          <p:nvPicPr>
            <p:cNvPr id="7" name="그림 6" descr="스크린샷, 의류, 신발류, 콜라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10F397F-0273-153D-462D-41638FE86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5670" y="1052974"/>
              <a:ext cx="2570183" cy="5667375"/>
            </a:xfrm>
            <a:prstGeom prst="rect">
              <a:avLst/>
            </a:prstGeom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A5947886-4543-EDB2-B698-7B750E32FCAA}"/>
                </a:ext>
              </a:extLst>
            </p:cNvPr>
            <p:cNvGrpSpPr/>
            <p:nvPr/>
          </p:nvGrpSpPr>
          <p:grpSpPr>
            <a:xfrm>
              <a:off x="347720" y="1052974"/>
              <a:ext cx="4156882" cy="5667375"/>
              <a:chOff x="347720" y="1052974"/>
              <a:chExt cx="4156882" cy="5667375"/>
            </a:xfrm>
          </p:grpSpPr>
          <p:pic>
            <p:nvPicPr>
              <p:cNvPr id="9" name="그림 8" descr="스크린샷, 스포츠, 텍스트, 콜라주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A4FBE341-A840-99FA-EC79-F409B7FFCD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720" y="1052974"/>
                <a:ext cx="2432153" cy="5667375"/>
              </a:xfrm>
              <a:prstGeom prst="rect">
                <a:avLst/>
              </a:prstGeom>
            </p:spPr>
          </p:pic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D15EE909-1434-9449-BA46-10002D9BDCA3}"/>
                  </a:ext>
                </a:extLst>
              </p:cNvPr>
              <p:cNvSpPr/>
              <p:nvPr/>
            </p:nvSpPr>
            <p:spPr>
              <a:xfrm>
                <a:off x="1104900" y="6048375"/>
                <a:ext cx="466725" cy="671974"/>
              </a:xfrm>
              <a:prstGeom prst="rect">
                <a:avLst/>
              </a:prstGeom>
              <a:noFill/>
              <a:ln>
                <a:solidFill>
                  <a:srgbClr val="A02B9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n>
                    <a:solidFill>
                      <a:srgbClr val="A02B93"/>
                    </a:solidFill>
                  </a:ln>
                  <a:noFill/>
                </a:endParaRPr>
              </a:p>
            </p:txBody>
          </p:sp>
          <p:cxnSp>
            <p:nvCxnSpPr>
              <p:cNvPr id="11" name="직선 화살표 연결선 10">
                <a:extLst>
                  <a:ext uri="{FF2B5EF4-FFF2-40B4-BE49-F238E27FC236}">
                    <a16:creationId xmlns:a16="http://schemas.microsoft.com/office/drawing/2014/main" id="{2521EB55-4A4E-E892-1514-00062E472B08}"/>
                  </a:ext>
                </a:extLst>
              </p:cNvPr>
              <p:cNvCxnSpPr>
                <a:stCxn id="10" idx="3"/>
              </p:cNvCxnSpPr>
              <p:nvPr/>
            </p:nvCxnSpPr>
            <p:spPr>
              <a:xfrm flipV="1">
                <a:off x="1571625" y="5905500"/>
                <a:ext cx="504825" cy="4788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08AEAF-122E-2169-7A7E-B7BB07143EB8}"/>
                  </a:ext>
                </a:extLst>
              </p:cNvPr>
              <p:cNvSpPr txBox="1"/>
              <p:nvPr/>
            </p:nvSpPr>
            <p:spPr>
              <a:xfrm>
                <a:off x="1934419" y="5622295"/>
                <a:ext cx="2570183" cy="38199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b="1" dirty="0"/>
                  <a:t>클릭 시 </a:t>
                </a:r>
                <a:r>
                  <a:rPr lang="en-US" altLang="ko-KR" sz="1400" b="1" dirty="0"/>
                  <a:t>detail.html</a:t>
                </a:r>
                <a:r>
                  <a:rPr lang="ko-KR" altLang="en-US" sz="1400" b="1" dirty="0"/>
                  <a:t>로 이동</a:t>
                </a:r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6B50D48-68DA-9AAE-CE04-4F09FF46499E}"/>
              </a:ext>
            </a:extLst>
          </p:cNvPr>
          <p:cNvSpPr txBox="1"/>
          <p:nvPr/>
        </p:nvSpPr>
        <p:spPr>
          <a:xfrm>
            <a:off x="5138767" y="5303847"/>
            <a:ext cx="22952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solidFill>
                  <a:schemeClr val="bg1"/>
                </a:solidFill>
              </a:rPr>
              <a:t>cloneNode</a:t>
            </a:r>
            <a:r>
              <a:rPr lang="en-US" altLang="ko-KR" sz="1400" dirty="0">
                <a:solidFill>
                  <a:schemeClr val="bg1"/>
                </a:solidFill>
              </a:rPr>
              <a:t>()</a:t>
            </a:r>
            <a:r>
              <a:rPr lang="ko-KR" altLang="en-US" sz="1400" dirty="0">
                <a:solidFill>
                  <a:schemeClr val="bg1"/>
                </a:solidFill>
              </a:rPr>
              <a:t>로 앞뒤에 카드 복제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EDB94C-E985-8A63-3B24-FB63AADC0CFC}"/>
              </a:ext>
            </a:extLst>
          </p:cNvPr>
          <p:cNvSpPr txBox="1"/>
          <p:nvPr/>
        </p:nvSpPr>
        <p:spPr>
          <a:xfrm>
            <a:off x="5087812" y="2529694"/>
            <a:ext cx="966931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주요 </a:t>
            </a:r>
            <a:r>
              <a:rPr lang="en-US" altLang="ko-KR" sz="1400" dirty="0" err="1"/>
              <a:t>js</a:t>
            </a:r>
            <a:r>
              <a:rPr lang="en-US" altLang="ko-KR" sz="1400" dirty="0"/>
              <a:t> </a:t>
            </a:r>
            <a:r>
              <a:rPr lang="ko-KR" altLang="en-US" sz="1400" dirty="0"/>
              <a:t>코드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CC738A6B-D5B9-D2D8-F6D5-9400995ADD00}"/>
              </a:ext>
            </a:extLst>
          </p:cNvPr>
          <p:cNvCxnSpPr>
            <a:stCxn id="4" idx="1"/>
            <a:endCxn id="14" idx="0"/>
          </p:cNvCxnSpPr>
          <p:nvPr/>
        </p:nvCxnSpPr>
        <p:spPr>
          <a:xfrm rot="10800000" flipV="1">
            <a:off x="5571278" y="1644072"/>
            <a:ext cx="524722" cy="88562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64635B9-B2D9-18CF-D6EC-095A4C1AF5FF}"/>
              </a:ext>
            </a:extLst>
          </p:cNvPr>
          <p:cNvGrpSpPr/>
          <p:nvPr/>
        </p:nvGrpSpPr>
        <p:grpSpPr>
          <a:xfrm>
            <a:off x="5237692" y="2896508"/>
            <a:ext cx="6629126" cy="2104776"/>
            <a:chOff x="5369534" y="2668139"/>
            <a:chExt cx="6781756" cy="2210754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F786B31A-01A6-304C-7C80-EEE3CFC8BC94}"/>
                </a:ext>
              </a:extLst>
            </p:cNvPr>
            <p:cNvGrpSpPr/>
            <p:nvPr/>
          </p:nvGrpSpPr>
          <p:grpSpPr>
            <a:xfrm>
              <a:off x="5369534" y="2668139"/>
              <a:ext cx="4463723" cy="2199814"/>
              <a:chOff x="5369534" y="2668139"/>
              <a:chExt cx="4463723" cy="2199814"/>
            </a:xfrm>
          </p:grpSpPr>
          <p:pic>
            <p:nvPicPr>
              <p:cNvPr id="19" name="그림 18" descr="텍스트, 스크린샷, 소프트웨어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7BB409F3-0145-C5EC-BA79-B1121F1E41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69534" y="2668140"/>
                <a:ext cx="2145691" cy="2199813"/>
              </a:xfrm>
              <a:prstGeom prst="rect">
                <a:avLst/>
              </a:prstGeom>
            </p:spPr>
          </p:pic>
          <p:pic>
            <p:nvPicPr>
              <p:cNvPr id="20" name="그림 19" descr="텍스트, 스크린샷, 소프트웨어, 폰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14416486-26A0-8076-C406-5599644C1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95167" y="2668139"/>
                <a:ext cx="2238090" cy="2199813"/>
              </a:xfrm>
              <a:prstGeom prst="rect">
                <a:avLst/>
              </a:prstGeom>
            </p:spPr>
          </p:pic>
        </p:grpSp>
        <p:pic>
          <p:nvPicPr>
            <p:cNvPr id="18" name="그림 17" descr="텍스트, 스크린샷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00639CA-9FC5-4281-562C-831092E37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13200" y="2679081"/>
              <a:ext cx="2238090" cy="2199812"/>
            </a:xfrm>
            <a:prstGeom prst="rect">
              <a:avLst/>
            </a:prstGeom>
          </p:spPr>
        </p:pic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78F27B4-33C3-65F1-B6F3-7C0C33BC8B82}"/>
              </a:ext>
            </a:extLst>
          </p:cNvPr>
          <p:cNvCxnSpPr>
            <a:cxnSpLocks/>
          </p:cNvCxnSpPr>
          <p:nvPr/>
        </p:nvCxnSpPr>
        <p:spPr>
          <a:xfrm flipV="1">
            <a:off x="9409367" y="614022"/>
            <a:ext cx="1177566" cy="423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5B66B33-E7A4-D7F5-6789-095788ABB4AE}"/>
              </a:ext>
            </a:extLst>
          </p:cNvPr>
          <p:cNvSpPr txBox="1"/>
          <p:nvPr/>
        </p:nvSpPr>
        <p:spPr>
          <a:xfrm>
            <a:off x="9409367" y="297187"/>
            <a:ext cx="2441694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Mouse hover </a:t>
            </a:r>
            <a:r>
              <a:rPr lang="ko-KR" altLang="en-US" sz="1400" dirty="0"/>
              <a:t>시 화살표 버튼 표시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4DDD2F-61E5-D8B8-C6F5-12AE5F527E19}"/>
              </a:ext>
            </a:extLst>
          </p:cNvPr>
          <p:cNvSpPr txBox="1"/>
          <p:nvPr/>
        </p:nvSpPr>
        <p:spPr>
          <a:xfrm>
            <a:off x="7208020" y="5670662"/>
            <a:ext cx="2598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>
                <a:solidFill>
                  <a:schemeClr val="bg1"/>
                </a:solidFill>
              </a:rPr>
              <a:t>transitionend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이벤트를 활용한 순환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DDC029-F1EA-D1BD-12E2-7D99B18B6A6B}"/>
              </a:ext>
            </a:extLst>
          </p:cNvPr>
          <p:cNvSpPr txBox="1"/>
          <p:nvPr/>
        </p:nvSpPr>
        <p:spPr>
          <a:xfrm>
            <a:off x="9945004" y="5978439"/>
            <a:ext cx="1655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슬라이드 애니메이션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6FA92C3-55EC-74B2-A7FF-E5B7B0612AE1}"/>
              </a:ext>
            </a:extLst>
          </p:cNvPr>
          <p:cNvCxnSpPr>
            <a:cxnSpLocks/>
            <a:stCxn id="19" idx="2"/>
            <a:endCxn id="13" idx="0"/>
          </p:cNvCxnSpPr>
          <p:nvPr/>
        </p:nvCxnSpPr>
        <p:spPr>
          <a:xfrm>
            <a:off x="6286392" y="4990868"/>
            <a:ext cx="0" cy="3129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0A18487-B88D-2817-5B6C-6989BE7FF5BF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8507095" y="4990867"/>
            <a:ext cx="0" cy="6797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67BF705-F730-6BC8-44CE-EEF03D207CC3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10772958" y="5001284"/>
            <a:ext cx="0" cy="9771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853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56887-9CDA-1202-3589-2A430C5CE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D602C-D16F-52BE-B9A0-7D10C3E85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index.html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722882-0882-7F62-A375-08F978117C88}"/>
              </a:ext>
            </a:extLst>
          </p:cNvPr>
          <p:cNvSpPr txBox="1"/>
          <p:nvPr/>
        </p:nvSpPr>
        <p:spPr>
          <a:xfrm>
            <a:off x="449424" y="1108642"/>
            <a:ext cx="2816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 err="1">
                <a:solidFill>
                  <a:schemeClr val="bg1"/>
                </a:solidFill>
              </a:rPr>
              <a:t>푸터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2DF27C1-AE9D-F764-AB3E-19E1118E5736}"/>
              </a:ext>
            </a:extLst>
          </p:cNvPr>
          <p:cNvGrpSpPr/>
          <p:nvPr/>
        </p:nvGrpSpPr>
        <p:grpSpPr>
          <a:xfrm>
            <a:off x="360973" y="1938635"/>
            <a:ext cx="4606953" cy="3297296"/>
            <a:chOff x="0" y="1315620"/>
            <a:chExt cx="6096000" cy="3348793"/>
          </a:xfrm>
        </p:grpSpPr>
        <p:pic>
          <p:nvPicPr>
            <p:cNvPr id="22" name="그림 21" descr="스크린샷, 텍스트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4DB6D4C-755E-39E4-49F7-718D96B59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15620"/>
              <a:ext cx="6096000" cy="2375482"/>
            </a:xfrm>
            <a:prstGeom prst="rect">
              <a:avLst/>
            </a:prstGeom>
          </p:spPr>
        </p:pic>
        <p:pic>
          <p:nvPicPr>
            <p:cNvPr id="23" name="그림 22" descr="텍스트, 폰트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932BCA2-E48F-0992-5A53-A65B41F52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691102"/>
              <a:ext cx="6096000" cy="973311"/>
            </a:xfrm>
            <a:prstGeom prst="rect">
              <a:avLst/>
            </a:prstGeom>
          </p:spPr>
        </p:pic>
      </p:grp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488B69E0-B721-4BC1-D9F6-D32929B8E930}"/>
              </a:ext>
            </a:extLst>
          </p:cNvPr>
          <p:cNvCxnSpPr>
            <a:cxnSpLocks/>
            <a:stCxn id="37" idx="3"/>
            <a:endCxn id="25" idx="1"/>
          </p:cNvCxnSpPr>
          <p:nvPr/>
        </p:nvCxnSpPr>
        <p:spPr>
          <a:xfrm flipV="1">
            <a:off x="1146600" y="2381855"/>
            <a:ext cx="4664958" cy="15593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25" name="그림 2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B26F79-0FDF-9EDA-E7EE-83F92E91D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558" y="999947"/>
            <a:ext cx="6019469" cy="276381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CA4FE9D-2682-5ECE-9D16-353DEACC6D5C}"/>
              </a:ext>
            </a:extLst>
          </p:cNvPr>
          <p:cNvSpPr txBox="1"/>
          <p:nvPr/>
        </p:nvSpPr>
        <p:spPr>
          <a:xfrm>
            <a:off x="4649863" y="1765804"/>
            <a:ext cx="1066318" cy="52322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클릭 시</a:t>
            </a:r>
            <a:endParaRPr lang="en-US" altLang="ko-KR" sz="1400" dirty="0"/>
          </a:p>
          <a:p>
            <a:pPr algn="ctr"/>
            <a:r>
              <a:rPr lang="ko-KR" altLang="en-US" sz="1400" dirty="0" err="1"/>
              <a:t>모달창</a:t>
            </a:r>
            <a:r>
              <a:rPr lang="ko-KR" altLang="en-US" sz="1400" dirty="0"/>
              <a:t> 띄우기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094FB48-48D3-ABF8-8B7D-024CDFCD8A39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192501" y="1275473"/>
            <a:ext cx="190755" cy="1326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D080D9D-DF8B-5713-4EF0-CA2012341F91}"/>
              </a:ext>
            </a:extLst>
          </p:cNvPr>
          <p:cNvSpPr txBox="1"/>
          <p:nvPr/>
        </p:nvSpPr>
        <p:spPr>
          <a:xfrm>
            <a:off x="5960883" y="2649397"/>
            <a:ext cx="1620957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클릭 시 </a:t>
            </a:r>
            <a:r>
              <a:rPr lang="en-US" altLang="ko-KR" sz="1400" dirty="0"/>
              <a:t>main</a:t>
            </a:r>
            <a:r>
              <a:rPr lang="ko-KR" altLang="en-US" sz="1400" dirty="0"/>
              <a:t>페이지로</a:t>
            </a:r>
          </a:p>
        </p:txBody>
      </p:sp>
      <p:pic>
        <p:nvPicPr>
          <p:cNvPr id="29" name="그림 28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BDC30F-11B1-62DC-DF13-8E1149438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350" y="3923146"/>
            <a:ext cx="3268524" cy="2692172"/>
          </a:xfrm>
          <a:prstGeom prst="rect">
            <a:avLst/>
          </a:prstGeom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336D755-04DB-C5A0-906E-8A64C0812B0A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11048214" y="1207909"/>
            <a:ext cx="622036" cy="1173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FA0EC21-898D-8589-4833-234659F5BFC5}"/>
              </a:ext>
            </a:extLst>
          </p:cNvPr>
          <p:cNvSpPr/>
          <p:nvPr/>
        </p:nvSpPr>
        <p:spPr>
          <a:xfrm>
            <a:off x="6001746" y="948173"/>
            <a:ext cx="381509" cy="327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8B665A1-2CE1-E618-8662-3B134215E0FB}"/>
              </a:ext>
            </a:extLst>
          </p:cNvPr>
          <p:cNvSpPr/>
          <p:nvPr/>
        </p:nvSpPr>
        <p:spPr>
          <a:xfrm>
            <a:off x="11535560" y="970390"/>
            <a:ext cx="269380" cy="2375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4D1738-D8F5-6160-299D-947ED28D44FB}"/>
              </a:ext>
            </a:extLst>
          </p:cNvPr>
          <p:cNvSpPr txBox="1"/>
          <p:nvPr/>
        </p:nvSpPr>
        <p:spPr>
          <a:xfrm>
            <a:off x="10407526" y="2411411"/>
            <a:ext cx="1175323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클릭 시 창 닫힘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5AE006-9DBB-FFD2-E77A-A93C227ED3CC}"/>
              </a:ext>
            </a:extLst>
          </p:cNvPr>
          <p:cNvSpPr txBox="1"/>
          <p:nvPr/>
        </p:nvSpPr>
        <p:spPr>
          <a:xfrm>
            <a:off x="6293329" y="3923146"/>
            <a:ext cx="966931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모달</a:t>
            </a:r>
            <a:r>
              <a:rPr lang="ko-KR" altLang="en-US" sz="1400" dirty="0"/>
              <a:t> </a:t>
            </a:r>
            <a:r>
              <a:rPr lang="en-US" altLang="ko-KR" sz="1400" dirty="0" err="1"/>
              <a:t>js</a:t>
            </a:r>
            <a:r>
              <a:rPr lang="en-US" altLang="ko-KR" sz="1400" dirty="0"/>
              <a:t> </a:t>
            </a:r>
            <a:r>
              <a:rPr lang="ko-KR" altLang="en-US" sz="1400" dirty="0"/>
              <a:t>코드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6AF001B-F353-D30E-41F6-A0B36AADCF13}"/>
              </a:ext>
            </a:extLst>
          </p:cNvPr>
          <p:cNvSpPr/>
          <p:nvPr/>
        </p:nvSpPr>
        <p:spPr>
          <a:xfrm>
            <a:off x="333451" y="3781493"/>
            <a:ext cx="813149" cy="3194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503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31B25-8F8F-E9EE-8051-131E7991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8D7AE-3E72-C792-6FA0-076B5B612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product.html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47252-4D3A-2CB3-C202-C9576DBB59E0}"/>
              </a:ext>
            </a:extLst>
          </p:cNvPr>
          <p:cNvSpPr txBox="1"/>
          <p:nvPr/>
        </p:nvSpPr>
        <p:spPr>
          <a:xfrm>
            <a:off x="449425" y="1108642"/>
            <a:ext cx="1409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설계 문서</a:t>
            </a:r>
          </a:p>
        </p:txBody>
      </p:sp>
      <p:pic>
        <p:nvPicPr>
          <p:cNvPr id="7" name="그림 6" descr="텍스트, 스크린샷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CBF708-E71D-364D-2C61-601E2BDB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897" y="305555"/>
            <a:ext cx="4804206" cy="624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95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F3803-DE43-B467-EEAE-3D424768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D443C7-0686-7DE3-7439-C7FC959B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product.html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F6B62-16AE-78DB-BD81-DA19C63B0AEF}"/>
              </a:ext>
            </a:extLst>
          </p:cNvPr>
          <p:cNvSpPr txBox="1"/>
          <p:nvPr/>
        </p:nvSpPr>
        <p:spPr>
          <a:xfrm>
            <a:off x="449425" y="1108642"/>
            <a:ext cx="1409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설계 문서</a:t>
            </a:r>
          </a:p>
        </p:txBody>
      </p:sp>
      <p:pic>
        <p:nvPicPr>
          <p:cNvPr id="4" name="그림 3" descr="텍스트, 도표, 친필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49400B-3330-F737-C68D-A800E127D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498" y="308113"/>
            <a:ext cx="4809003" cy="624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43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8E9CE-D8F1-D631-C237-1A45AB0B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594E4-B32F-7C2E-5F53-A4FD2191D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product.html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F7D88-7368-82AB-BD54-C86D041C0E80}"/>
              </a:ext>
            </a:extLst>
          </p:cNvPr>
          <p:cNvSpPr txBox="1"/>
          <p:nvPr/>
        </p:nvSpPr>
        <p:spPr>
          <a:xfrm>
            <a:off x="449424" y="1108642"/>
            <a:ext cx="2594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812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77EB7-B078-C6E6-3840-C72FE3C1C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FDF14-1B70-8388-7691-7DE9DDC27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DEEAC-413F-14B0-28A0-A466DAFBECA5}"/>
              </a:ext>
            </a:extLst>
          </p:cNvPr>
          <p:cNvSpPr txBox="1"/>
          <p:nvPr/>
        </p:nvSpPr>
        <p:spPr>
          <a:xfrm>
            <a:off x="449425" y="1108642"/>
            <a:ext cx="1409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설계 문서</a:t>
            </a:r>
          </a:p>
        </p:txBody>
      </p:sp>
      <p:pic>
        <p:nvPicPr>
          <p:cNvPr id="3" name="그림 2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7A6F78-7252-B439-4324-E1A63E674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8" b="69248"/>
          <a:stretch>
            <a:fillRect/>
          </a:stretch>
        </p:blipFill>
        <p:spPr>
          <a:xfrm>
            <a:off x="3101009" y="651013"/>
            <a:ext cx="6136952" cy="555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9C31-8233-C23C-CFE0-99DCAFE02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90C7C-6851-3A37-1756-317F93B40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591DB-2B78-512D-7549-967581B6683F}"/>
              </a:ext>
            </a:extLst>
          </p:cNvPr>
          <p:cNvSpPr txBox="1"/>
          <p:nvPr/>
        </p:nvSpPr>
        <p:spPr>
          <a:xfrm>
            <a:off x="449425" y="1108642"/>
            <a:ext cx="1409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설계 문서</a:t>
            </a:r>
          </a:p>
        </p:txBody>
      </p:sp>
      <p:pic>
        <p:nvPicPr>
          <p:cNvPr id="4" name="그림 3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ED39CD-2E76-8266-67A6-AAEF44CD5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3" t="50000" r="4694" b="17229"/>
          <a:stretch>
            <a:fillRect/>
          </a:stretch>
        </p:blipFill>
        <p:spPr>
          <a:xfrm>
            <a:off x="3269974" y="459139"/>
            <a:ext cx="5784574" cy="615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40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001B1-25B9-7E29-86E7-5EF0D5A4E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30E83-8407-2254-5794-4249E368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C6DF7-E248-BC42-8544-89CE6ADB84B0}"/>
              </a:ext>
            </a:extLst>
          </p:cNvPr>
          <p:cNvSpPr txBox="1"/>
          <p:nvPr/>
        </p:nvSpPr>
        <p:spPr>
          <a:xfrm>
            <a:off x="449424" y="1108642"/>
            <a:ext cx="545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객체를 이용한 </a:t>
            </a:r>
            <a:r>
              <a:rPr lang="en-US" altLang="ko-KR" sz="2400" dirty="0" err="1">
                <a:solidFill>
                  <a:schemeClr val="bg1"/>
                </a:solidFill>
              </a:rPr>
              <a:t>js</a:t>
            </a:r>
            <a:r>
              <a:rPr lang="ko-KR" altLang="en-US" sz="2400" dirty="0">
                <a:solidFill>
                  <a:schemeClr val="bg1"/>
                </a:solidFill>
              </a:rPr>
              <a:t> 데이터베이스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생성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그림 3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B4795B-42C5-2587-00D3-0DF634BD1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ACA6BF-68C9-443B-B073-92F2A663E368}"/>
              </a:ext>
            </a:extLst>
          </p:cNvPr>
          <p:cNvSpPr txBox="1"/>
          <p:nvPr/>
        </p:nvSpPr>
        <p:spPr>
          <a:xfrm>
            <a:off x="7630510" y="519099"/>
            <a:ext cx="4046484" cy="618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products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남성 푸마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하이록스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클라우드스펀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"M PUMA X HYROX CLOUDSPUN HOODIE"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price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129000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category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mainImages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"./images/id1/main3.avif"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"./images/id1/main4.avif"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"./images/id1/main5.avif"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"./images/id1/main6.avif"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"./images/id1/main7.avif"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colorOptions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"Gray"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}, 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"Black"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intro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 세계 피트니스 레이스를 대표하는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HYROX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PUMA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기술력이 결합된 퍼포먼스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후디입니다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최소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50%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이상의 재활용 소재 사용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수분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흡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속건 기능의 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dryCELL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"4-way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스트레치 슈퍼 소프트 원단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material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78%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폴리에스터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16%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리오셀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엘라스테인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careInstructions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인쇄부분 다림질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섬유 유연제 사용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뒤집어 세탁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},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319E2F-7998-5DE6-73E9-8E3C135EDA16}"/>
              </a:ext>
            </a:extLst>
          </p:cNvPr>
          <p:cNvSpPr/>
          <p:nvPr/>
        </p:nvSpPr>
        <p:spPr>
          <a:xfrm>
            <a:off x="4913745" y="1836125"/>
            <a:ext cx="2359414" cy="423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3A7B58-A197-9239-EB14-75B491FC7996}"/>
              </a:ext>
            </a:extLst>
          </p:cNvPr>
          <p:cNvSpPr/>
          <p:nvPr/>
        </p:nvSpPr>
        <p:spPr>
          <a:xfrm>
            <a:off x="4834759" y="2459421"/>
            <a:ext cx="704192" cy="143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B3ECBA-A2AB-1C72-66A3-2BD0281F0419}"/>
              </a:ext>
            </a:extLst>
          </p:cNvPr>
          <p:cNvSpPr/>
          <p:nvPr/>
        </p:nvSpPr>
        <p:spPr>
          <a:xfrm>
            <a:off x="4847897" y="2863244"/>
            <a:ext cx="930165" cy="537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293E5B-C26F-E812-2743-3110B3535796}"/>
              </a:ext>
            </a:extLst>
          </p:cNvPr>
          <p:cNvSpPr/>
          <p:nvPr/>
        </p:nvSpPr>
        <p:spPr>
          <a:xfrm>
            <a:off x="4847897" y="5333443"/>
            <a:ext cx="2359414" cy="783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B27789-7660-28F6-2CF2-75CD244E9B1A}"/>
              </a:ext>
            </a:extLst>
          </p:cNvPr>
          <p:cNvSpPr/>
          <p:nvPr/>
        </p:nvSpPr>
        <p:spPr>
          <a:xfrm>
            <a:off x="5223800" y="6116463"/>
            <a:ext cx="1739303" cy="585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32889B-7BA8-86BC-F7B1-828E34E090B3}"/>
              </a:ext>
            </a:extLst>
          </p:cNvPr>
          <p:cNvSpPr txBox="1"/>
          <p:nvPr/>
        </p:nvSpPr>
        <p:spPr>
          <a:xfrm>
            <a:off x="5661891" y="535899"/>
            <a:ext cx="1427256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상품별 객체 생성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173CFB-881F-F97E-F95D-E0CA4D77EDC8}"/>
              </a:ext>
            </a:extLst>
          </p:cNvPr>
          <p:cNvSpPr/>
          <p:nvPr/>
        </p:nvSpPr>
        <p:spPr>
          <a:xfrm>
            <a:off x="7630510" y="572890"/>
            <a:ext cx="1337441" cy="239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8ED040F-E748-C8D2-E404-7B7C12EC2FA2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7089147" y="689788"/>
            <a:ext cx="541363" cy="28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1045617-5979-978D-78EB-72D08AA1A199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data.js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615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0ABF-E2B6-67C1-0309-D91E0AF6F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FCE96-62ED-6EB6-F930-74536D381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13128-AAC9-A93E-099F-5B66C1FF4EB0}"/>
              </a:ext>
            </a:extLst>
          </p:cNvPr>
          <p:cNvSpPr txBox="1"/>
          <p:nvPr/>
        </p:nvSpPr>
        <p:spPr>
          <a:xfrm>
            <a:off x="449424" y="1108642"/>
            <a:ext cx="545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상품 정보 불러오기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867C89-5CAE-5550-D356-C0815490921C}"/>
              </a:ext>
            </a:extLst>
          </p:cNvPr>
          <p:cNvSpPr txBox="1"/>
          <p:nvPr/>
        </p:nvSpPr>
        <p:spPr>
          <a:xfrm>
            <a:off x="4705450" y="437589"/>
            <a:ext cx="2567709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받은 </a:t>
            </a:r>
            <a:r>
              <a:rPr lang="en-US" altLang="ko-KR" sz="1400" dirty="0"/>
              <a:t>id</a:t>
            </a:r>
            <a:r>
              <a:rPr lang="ko-KR" altLang="en-US" sz="1400" dirty="0"/>
              <a:t>로 객체 속성을 받아와</a:t>
            </a:r>
            <a:r>
              <a:rPr lang="en-US" altLang="ko-KR" sz="1400" dirty="0" err="1"/>
              <a:t>innerHTML</a:t>
            </a:r>
            <a:r>
              <a:rPr lang="en-US" altLang="ko-KR" sz="1400" dirty="0"/>
              <a:t> </a:t>
            </a:r>
            <a:r>
              <a:rPr lang="ko-KR" altLang="en-US" sz="1400" dirty="0"/>
              <a:t>을 활용해 동적으로 변경</a:t>
            </a:r>
          </a:p>
        </p:txBody>
      </p:sp>
      <p:pic>
        <p:nvPicPr>
          <p:cNvPr id="6" name="그림 5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00B813-EDA8-9781-07E6-0940C349A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4BE215-E935-EF24-2247-B69E47425007}"/>
              </a:ext>
            </a:extLst>
          </p:cNvPr>
          <p:cNvSpPr txBox="1"/>
          <p:nvPr/>
        </p:nvSpPr>
        <p:spPr>
          <a:xfrm>
            <a:off x="7630510" y="519099"/>
            <a:ext cx="4046484" cy="618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products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남성 푸마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하이록스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클라우드스펀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"M PUMA X HYROX CLOUDSPUN HOODIE"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price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129000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category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mainImages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"./images/id1/main3.avif"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"./images/id1/main4.avif"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"./images/id1/main5.avif"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"./images/id1/main6.avif"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"./images/id1/main7.avif"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colorOptions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"Gray"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}, 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"Black"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intro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 세계 피트니스 레이스를 대표하는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HYROX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PUMA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기술력이 결합된 퍼포먼스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후디입니다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최소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50%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이상의 재활용 소재 사용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수분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흡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속건 기능의 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dryCELL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"4-way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스트레치 슈퍼 소프트 원단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material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78%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폴리에스터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16%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리오셀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엘라스테인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careInstructions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인쇄부분 다림질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섬유 유연제 사용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뒤집어 세탁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},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AE5CCE-E550-F5F6-BF34-3D6E0B436B9B}"/>
              </a:ext>
            </a:extLst>
          </p:cNvPr>
          <p:cNvSpPr/>
          <p:nvPr/>
        </p:nvSpPr>
        <p:spPr>
          <a:xfrm>
            <a:off x="4913745" y="1836125"/>
            <a:ext cx="2359414" cy="423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9A94C9-E34F-4CE4-2F99-517D074AC19D}"/>
              </a:ext>
            </a:extLst>
          </p:cNvPr>
          <p:cNvSpPr/>
          <p:nvPr/>
        </p:nvSpPr>
        <p:spPr>
          <a:xfrm>
            <a:off x="4834759" y="2459421"/>
            <a:ext cx="704192" cy="143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A99E980-E0AB-34A2-47B9-9C83E30B946F}"/>
              </a:ext>
            </a:extLst>
          </p:cNvPr>
          <p:cNvSpPr/>
          <p:nvPr/>
        </p:nvSpPr>
        <p:spPr>
          <a:xfrm>
            <a:off x="4847897" y="2863244"/>
            <a:ext cx="930165" cy="537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241F381-6070-7E15-004D-DDDC2D41AFBC}"/>
              </a:ext>
            </a:extLst>
          </p:cNvPr>
          <p:cNvCxnSpPr>
            <a:cxnSpLocks/>
          </p:cNvCxnSpPr>
          <p:nvPr/>
        </p:nvCxnSpPr>
        <p:spPr>
          <a:xfrm flipV="1">
            <a:off x="7273159" y="1345324"/>
            <a:ext cx="746234" cy="4908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CCDE3CC-B817-A0AB-F18B-832CAC5E9CBA}"/>
              </a:ext>
            </a:extLst>
          </p:cNvPr>
          <p:cNvCxnSpPr>
            <a:cxnSpLocks/>
          </p:cNvCxnSpPr>
          <p:nvPr/>
        </p:nvCxnSpPr>
        <p:spPr>
          <a:xfrm flipV="1">
            <a:off x="7273159" y="1566041"/>
            <a:ext cx="746234" cy="2700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2F05312-F7BC-8462-784C-422F3B6D529D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5538951" y="1755228"/>
            <a:ext cx="2480442" cy="776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C44D27F-9BAB-21F2-2672-7BF040CB532A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5778062" y="3132014"/>
            <a:ext cx="2241331" cy="5991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5B3E6DF-C184-9C79-2B1A-E05E9A339D72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data.js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419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87D54-2CC3-39FE-D9A5-B58911821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CEEBF-60C6-30CB-DCDC-A20C3EC7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F6058-1CCD-F586-E9EA-C7901E813E2B}"/>
              </a:ext>
            </a:extLst>
          </p:cNvPr>
          <p:cNvSpPr txBox="1"/>
          <p:nvPr/>
        </p:nvSpPr>
        <p:spPr>
          <a:xfrm>
            <a:off x="449424" y="1108642"/>
            <a:ext cx="545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다른 상품 보여주기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45958D-0339-26CD-10C0-C719A3A36F4F}"/>
              </a:ext>
            </a:extLst>
          </p:cNvPr>
          <p:cNvSpPr txBox="1"/>
          <p:nvPr/>
        </p:nvSpPr>
        <p:spPr>
          <a:xfrm>
            <a:off x="6096000" y="545310"/>
            <a:ext cx="1177159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Swiper </a:t>
            </a:r>
            <a:r>
              <a:rPr lang="ko-KR" altLang="en-US" sz="1400" dirty="0"/>
              <a:t>사용</a:t>
            </a:r>
          </a:p>
        </p:txBody>
      </p:sp>
      <p:pic>
        <p:nvPicPr>
          <p:cNvPr id="4" name="그림 3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D38556-8909-9F8A-AB10-6241F97927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29BAA97F-1E86-034B-C962-F28214E3C1CC}"/>
              </a:ext>
            </a:extLst>
          </p:cNvPr>
          <p:cNvSpPr/>
          <p:nvPr/>
        </p:nvSpPr>
        <p:spPr>
          <a:xfrm>
            <a:off x="4884842" y="3870006"/>
            <a:ext cx="2521188" cy="1108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3B17F3F-FE49-74C9-DD93-1620853D5F78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 flipV="1">
            <a:off x="7406030" y="3791527"/>
            <a:ext cx="814334" cy="632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318F24A-F359-5503-A09C-A011AE63E4D3}"/>
              </a:ext>
            </a:extLst>
          </p:cNvPr>
          <p:cNvSpPr txBox="1"/>
          <p:nvPr/>
        </p:nvSpPr>
        <p:spPr>
          <a:xfrm>
            <a:off x="7406030" y="487845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detail.css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DCCEF9-EF68-C2C3-4806-50C3C889963F}"/>
              </a:ext>
            </a:extLst>
          </p:cNvPr>
          <p:cNvSpPr txBox="1"/>
          <p:nvPr/>
        </p:nvSpPr>
        <p:spPr>
          <a:xfrm>
            <a:off x="8220364" y="1016825"/>
            <a:ext cx="3759200" cy="5549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.swiper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width: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%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height: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auto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--swiper-navigation-size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25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px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--swiper-navigation-color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#000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margin-bottom: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60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px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4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.swiper-slide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display: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flex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flex-direction: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column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font-size: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12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px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4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.swiper-slide</a:t>
            </a:r>
            <a:r>
              <a:rPr lang="en-US" altLang="ko-KR" sz="14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4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img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width: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100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%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height: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auto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margin-bottom: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</a:t>
            </a:r>
            <a:r>
              <a:rPr lang="en-US" altLang="ko-KR" sz="14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px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400" b="0" dirty="0" err="1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swiper-button-next</a:t>
            </a:r>
            <a:r>
              <a:rPr lang="en-US" altLang="ko-KR" sz="1400" b="0" dirty="0" err="1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:after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400" b="0" dirty="0" err="1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swiper-button-prev</a:t>
            </a:r>
            <a:r>
              <a:rPr lang="en-US" altLang="ko-KR" sz="1400" b="0" dirty="0" err="1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:after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font-weight: </a:t>
            </a:r>
            <a:r>
              <a:rPr lang="en-US" altLang="ko-KR" sz="14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900</a:t>
            </a: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4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03183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F4983-74B6-7FD7-F264-20FBCEC0F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1B547-39C4-3273-287C-C19B195EC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601891-F3AF-A345-AD19-E979D83B5635}"/>
              </a:ext>
            </a:extLst>
          </p:cNvPr>
          <p:cNvSpPr txBox="1"/>
          <p:nvPr/>
        </p:nvSpPr>
        <p:spPr>
          <a:xfrm>
            <a:off x="449424" y="1108642"/>
            <a:ext cx="545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사이즈 선택 박스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AE0234-2B06-5955-8B1F-B5EFD8104ABF}"/>
              </a:ext>
            </a:extLst>
          </p:cNvPr>
          <p:cNvSpPr txBox="1"/>
          <p:nvPr/>
        </p:nvSpPr>
        <p:spPr>
          <a:xfrm>
            <a:off x="4433456" y="437588"/>
            <a:ext cx="2839704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r>
              <a:rPr lang="ko-KR" altLang="en-US" sz="1400" dirty="0"/>
              <a:t>카테고리에 따른 사이즈 박스 동적 변환</a:t>
            </a:r>
            <a:endParaRPr lang="en-US" altLang="ko-KR" sz="1400" dirty="0"/>
          </a:p>
          <a:p>
            <a:pPr algn="ctr"/>
            <a:r>
              <a:rPr lang="ko-KR" altLang="en-US" sz="1400" dirty="0"/>
              <a:t>의류 </a:t>
            </a:r>
            <a:r>
              <a:rPr lang="en-US" altLang="ko-KR" sz="1400" dirty="0"/>
              <a:t>/ </a:t>
            </a:r>
            <a:r>
              <a:rPr lang="ko-KR" altLang="en-US" sz="1400" dirty="0"/>
              <a:t>신발 </a:t>
            </a:r>
            <a:r>
              <a:rPr lang="en-US" altLang="ko-KR" sz="1400" dirty="0"/>
              <a:t>/ </a:t>
            </a:r>
            <a:r>
              <a:rPr lang="ko-KR" altLang="en-US" sz="1400" dirty="0"/>
              <a:t>용품</a:t>
            </a:r>
          </a:p>
        </p:txBody>
      </p:sp>
      <p:pic>
        <p:nvPicPr>
          <p:cNvPr id="4" name="그림 3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8CC2F6-AA29-5969-8880-25F19A445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5473D0-C7E3-7BD1-5F68-E1AC81C5C52A}"/>
              </a:ext>
            </a:extLst>
          </p:cNvPr>
          <p:cNvSpPr txBox="1"/>
          <p:nvPr/>
        </p:nvSpPr>
        <p:spPr>
          <a:xfrm>
            <a:off x="7630510" y="519099"/>
            <a:ext cx="4046484" cy="6182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products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남성 푸마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하이록스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클라우드스펀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engName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"M PUMA X HYROX CLOUDSPUN HOODIE"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price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129000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category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mainImages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"./images/id1/main3.avif"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"./images/id1/main4.avif"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"./images/id1/main5.avif"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"./images/id1/main6.avif"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"./images/id1/main7.avif"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colorOptions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"./images/id1/colors1.avif"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"Gray"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}, {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"./images/id1/colors2.avif"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name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"Black"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intro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 세계 피트니스 레이스를 대표하는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HYROX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PUMA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기술력이 결합된 퍼포먼스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후디입니다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최소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50%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이상의 재활용 소재 사용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수분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흡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속건 기능의 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dryCELL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"4-way 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스트레치 슈퍼 소프트 원단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material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쉘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78%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폴리에스터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16%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리오셀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6% </a:t>
            </a:r>
            <a:r>
              <a:rPr lang="ko-KR" altLang="en-US" sz="1200" b="0" dirty="0" err="1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엘라스테인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careInstructions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[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인쇄부분 다림질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섬유 유연제 사용 금지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뒤집어 세탁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},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5A6C7F-2497-F7F6-6729-B5B0D1D8E39E}"/>
              </a:ext>
            </a:extLst>
          </p:cNvPr>
          <p:cNvSpPr/>
          <p:nvPr/>
        </p:nvSpPr>
        <p:spPr>
          <a:xfrm>
            <a:off x="4847897" y="5333443"/>
            <a:ext cx="2359414" cy="783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AFCCA34-8110-1914-2072-CDA44BB8EC3D}"/>
              </a:ext>
            </a:extLst>
          </p:cNvPr>
          <p:cNvCxnSpPr>
            <a:cxnSpLocks/>
          </p:cNvCxnSpPr>
          <p:nvPr/>
        </p:nvCxnSpPr>
        <p:spPr>
          <a:xfrm flipV="1">
            <a:off x="7207311" y="2102069"/>
            <a:ext cx="1085351" cy="36260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15C3666-5826-21E7-4977-24F1C781D20D}"/>
              </a:ext>
            </a:extLst>
          </p:cNvPr>
          <p:cNvSpPr/>
          <p:nvPr/>
        </p:nvSpPr>
        <p:spPr>
          <a:xfrm>
            <a:off x="7997058" y="1862521"/>
            <a:ext cx="1337441" cy="2395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AB8384-C833-B096-9CFE-1E8F685F39A9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data.js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544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56C6-E0E7-68DE-87CE-56506E158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674D9-D1D0-3357-2D03-3792EFDA1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D8A614-4CA9-5622-421F-ECFAA6EFC566}"/>
              </a:ext>
            </a:extLst>
          </p:cNvPr>
          <p:cNvSpPr txBox="1"/>
          <p:nvPr/>
        </p:nvSpPr>
        <p:spPr>
          <a:xfrm>
            <a:off x="449424" y="1108642"/>
            <a:ext cx="545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상품 정보 불러오기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F0603B-8C46-E821-896A-7FDBA509ADAE}"/>
              </a:ext>
            </a:extLst>
          </p:cNvPr>
          <p:cNvSpPr txBox="1"/>
          <p:nvPr/>
        </p:nvSpPr>
        <p:spPr>
          <a:xfrm>
            <a:off x="3888510" y="437588"/>
            <a:ext cx="3384650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장바구니 추가 버튼을 누르면</a:t>
            </a:r>
            <a:endParaRPr lang="en-US" altLang="ko-KR" sz="1400" dirty="0"/>
          </a:p>
          <a:p>
            <a:pPr algn="ctr"/>
            <a:r>
              <a:rPr lang="ko-KR" altLang="en-US" sz="1400" dirty="0"/>
              <a:t>상품 </a:t>
            </a:r>
            <a:r>
              <a:rPr lang="en-US" altLang="ko-KR" sz="1400" dirty="0"/>
              <a:t>id, </a:t>
            </a:r>
            <a:r>
              <a:rPr lang="ko-KR" altLang="en-US" sz="1400" dirty="0"/>
              <a:t>사이즈</a:t>
            </a:r>
            <a:r>
              <a:rPr lang="en-US" altLang="ko-KR" sz="1400" dirty="0"/>
              <a:t>, </a:t>
            </a:r>
            <a:r>
              <a:rPr lang="ko-KR" altLang="en-US" sz="1400" dirty="0"/>
              <a:t>수량</a:t>
            </a:r>
            <a:r>
              <a:rPr lang="en-US" altLang="ko-KR" sz="1400" dirty="0"/>
              <a:t> </a:t>
            </a:r>
            <a:r>
              <a:rPr lang="ko-KR" altLang="en-US" sz="1400" dirty="0"/>
              <a:t>정보를 </a:t>
            </a:r>
            <a:r>
              <a:rPr lang="en-US" altLang="ko-KR" sz="1400" dirty="0"/>
              <a:t>cart.html</a:t>
            </a:r>
            <a:r>
              <a:rPr lang="ko-KR" altLang="en-US" sz="1400" dirty="0"/>
              <a:t>로 전송함</a:t>
            </a:r>
          </a:p>
        </p:txBody>
      </p:sp>
      <p:pic>
        <p:nvPicPr>
          <p:cNvPr id="4" name="그림 3" descr="텍스트, 스크린샷, 의류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2C086F-80B0-081A-8CAE-7AFFCC8B6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2468"/>
            <a:ext cx="7406030" cy="536553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10F84B2-5176-8FEA-69F9-689A7697AE21}"/>
              </a:ext>
            </a:extLst>
          </p:cNvPr>
          <p:cNvSpPr/>
          <p:nvPr/>
        </p:nvSpPr>
        <p:spPr>
          <a:xfrm>
            <a:off x="5226348" y="6116463"/>
            <a:ext cx="1739303" cy="3478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595F30-50A1-DC1B-0A6F-AC38ABAB0609}"/>
              </a:ext>
            </a:extLst>
          </p:cNvPr>
          <p:cNvSpPr txBox="1"/>
          <p:nvPr/>
        </p:nvSpPr>
        <p:spPr>
          <a:xfrm>
            <a:off x="7535918" y="880319"/>
            <a:ext cx="4482371" cy="5528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1.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현재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URL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에서 상품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가져오기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productId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parseInt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params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"id"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2.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선택된 사이즈 가져오기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라디오 버튼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selectedSizeElement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'input[name="product-size"]:checked'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3.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선택된 수량 가져오기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드롭다운 버튼의 텍스트 숫자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quantityText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'.drop-</a:t>
            </a:r>
            <a:r>
              <a:rPr lang="en-US" altLang="ko-KR" sz="1200" b="0" dirty="0" err="1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btn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'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).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innerText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trim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();</a:t>
            </a: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기존 장바구니 데이터를 가져오거나 없으면 빈 배열 생성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cartStorage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JSON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parse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localStorage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getItem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"cart"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||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[];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동일한 상품 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와 동일한 사이즈가 이미 있는지 확인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ko-KR" altLang="en-US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existingItemIndex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cartStorage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findIndex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productId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&amp;&amp;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item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selectedSize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selectedSize</a:t>
            </a: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68CFC1-74E0-DEA2-5D66-F2DCD46BC8E9}"/>
              </a:ext>
            </a:extLst>
          </p:cNvPr>
          <p:cNvSpPr txBox="1"/>
          <p:nvPr/>
        </p:nvSpPr>
        <p:spPr>
          <a:xfrm>
            <a:off x="7588759" y="13978"/>
            <a:ext cx="206499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detail.js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22B4F30-6C50-0932-F0D7-F933AA5C5700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6965651" y="3644794"/>
            <a:ext cx="570267" cy="24716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187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63658-48B7-962C-709C-7DDDF89D0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11813-05AD-5D2E-FDDF-5B98AC3F8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CBC3A-A6D8-F318-C2A1-D2B395AE5902}"/>
              </a:ext>
            </a:extLst>
          </p:cNvPr>
          <p:cNvSpPr txBox="1"/>
          <p:nvPr/>
        </p:nvSpPr>
        <p:spPr>
          <a:xfrm>
            <a:off x="449424" y="1108642"/>
            <a:ext cx="545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 err="1">
                <a:solidFill>
                  <a:schemeClr val="bg1"/>
                </a:solidFill>
              </a:rPr>
              <a:t>상품평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 err="1">
                <a:solidFill>
                  <a:schemeClr val="bg1"/>
                </a:solidFill>
              </a:rPr>
              <a:t>팝업창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E36FB7-AA41-4E60-5C92-57E7F3AAB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04" r="12123"/>
          <a:stretch>
            <a:fillRect/>
          </a:stretch>
        </p:blipFill>
        <p:spPr>
          <a:xfrm>
            <a:off x="0" y="1673772"/>
            <a:ext cx="7609722" cy="50257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392025-CA9D-1E39-7946-F7B26D1EB0CC}"/>
              </a:ext>
            </a:extLst>
          </p:cNvPr>
          <p:cNvSpPr txBox="1"/>
          <p:nvPr/>
        </p:nvSpPr>
        <p:spPr>
          <a:xfrm>
            <a:off x="8146473" y="1673772"/>
            <a:ext cx="3851564" cy="4438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별을 클릭하면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열기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forEach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하단 리뷰 등록 버튼 클릭 시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열기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writeBtn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 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닫기 버튼 클릭 시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닫기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closeBtn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200" b="0" dirty="0" err="1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모달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바깥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배경</a:t>
            </a:r>
            <a:r>
              <a:rPr lang="en-US" altLang="ko-KR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ko-KR" altLang="en-US" sz="1200" b="0" dirty="0">
                <a:solidFill>
                  <a:srgbClr val="7F848E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클릭 시 닫기</a:t>
            </a:r>
            <a:endParaRPr lang="ko-KR" altLang="en-US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window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(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target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8EE078-5E05-2B09-6904-F4CE4E2B6CCF}"/>
              </a:ext>
            </a:extLst>
          </p:cNvPr>
          <p:cNvSpPr txBox="1"/>
          <p:nvPr/>
        </p:nvSpPr>
        <p:spPr>
          <a:xfrm>
            <a:off x="7609723" y="477494"/>
            <a:ext cx="103551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detail.js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12B32-A808-9AB0-6305-F4EC56C60F46}"/>
              </a:ext>
            </a:extLst>
          </p:cNvPr>
          <p:cNvSpPr txBox="1"/>
          <p:nvPr/>
        </p:nvSpPr>
        <p:spPr>
          <a:xfrm>
            <a:off x="4368800" y="437589"/>
            <a:ext cx="2904360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리뷰 등록 버튼 또는 별을 클릭 시 </a:t>
            </a:r>
            <a:endParaRPr lang="en-US" altLang="ko-KR" sz="1400" dirty="0"/>
          </a:p>
          <a:p>
            <a:pPr algn="ctr"/>
            <a:r>
              <a:rPr lang="en-US" altLang="ko-KR" sz="1400" dirty="0"/>
              <a:t>active </a:t>
            </a:r>
            <a:r>
              <a:rPr lang="ko-KR" altLang="en-US" sz="1400" dirty="0"/>
              <a:t>클래스를 추가하여 창이 보이게 함</a:t>
            </a:r>
          </a:p>
        </p:txBody>
      </p:sp>
    </p:spTree>
    <p:extLst>
      <p:ext uri="{BB962C8B-B14F-4D97-AF65-F5344CB8AC3E}">
        <p14:creationId xmlns:p14="http://schemas.microsoft.com/office/powerpoint/2010/main" val="753296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69F13-5A0E-E25E-C79B-FF139DBA7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D34B2-816F-6FF5-6D9B-BF888B56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47B0CE-DA28-6C8B-17BF-6CF6FC952F52}"/>
              </a:ext>
            </a:extLst>
          </p:cNvPr>
          <p:cNvSpPr txBox="1"/>
          <p:nvPr/>
        </p:nvSpPr>
        <p:spPr>
          <a:xfrm>
            <a:off x="449424" y="1108642"/>
            <a:ext cx="545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</a:t>
            </a:r>
            <a:r>
              <a:rPr lang="en-US" altLang="ko-KR" sz="2400" dirty="0">
                <a:solidFill>
                  <a:schemeClr val="bg1"/>
                </a:solidFill>
              </a:rPr>
              <a:t> - </a:t>
            </a:r>
            <a:r>
              <a:rPr lang="ko-KR" altLang="en-US" sz="2400" dirty="0" err="1">
                <a:solidFill>
                  <a:schemeClr val="bg1"/>
                </a:solidFill>
              </a:rPr>
              <a:t>별점</a:t>
            </a:r>
            <a:r>
              <a:rPr lang="ko-KR" altLang="en-US" sz="2400" dirty="0">
                <a:solidFill>
                  <a:schemeClr val="bg1"/>
                </a:solidFill>
              </a:rPr>
              <a:t> 고정하기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29044F-B8DE-6DC2-45E6-E5D66E967026}"/>
              </a:ext>
            </a:extLst>
          </p:cNvPr>
          <p:cNvSpPr txBox="1"/>
          <p:nvPr/>
        </p:nvSpPr>
        <p:spPr>
          <a:xfrm>
            <a:off x="4378036" y="437589"/>
            <a:ext cx="2895123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별 </a:t>
            </a:r>
            <a:r>
              <a:rPr lang="ko-KR" altLang="en-US" sz="1400" dirty="0" err="1"/>
              <a:t>클릭시</a:t>
            </a:r>
            <a:r>
              <a:rPr lang="ko-KR" altLang="en-US" sz="1400" dirty="0"/>
              <a:t> 해당 번째 별의 인덱스 만큼</a:t>
            </a:r>
            <a:endParaRPr lang="en-US" altLang="ko-KR" sz="1400" dirty="0"/>
          </a:p>
          <a:p>
            <a:pPr algn="ctr"/>
            <a:r>
              <a:rPr lang="ko-KR" altLang="en-US" sz="1400" dirty="0"/>
              <a:t>선택 클래스를 추가하여 </a:t>
            </a:r>
            <a:r>
              <a:rPr lang="ko-KR" altLang="en-US" sz="1400" dirty="0" err="1"/>
              <a:t>별점을</a:t>
            </a:r>
            <a:r>
              <a:rPr lang="ko-KR" altLang="en-US" sz="1400" dirty="0"/>
              <a:t> 고정한다</a:t>
            </a:r>
          </a:p>
        </p:txBody>
      </p:sp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CB8DCB-B324-B6B6-2747-AFEB505B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04" r="12123"/>
          <a:stretch>
            <a:fillRect/>
          </a:stretch>
        </p:blipFill>
        <p:spPr>
          <a:xfrm>
            <a:off x="0" y="1673772"/>
            <a:ext cx="7609722" cy="502571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4860222-8254-0091-7E39-4F77327E549B}"/>
              </a:ext>
            </a:extLst>
          </p:cNvPr>
          <p:cNvSpPr/>
          <p:nvPr/>
        </p:nvSpPr>
        <p:spPr>
          <a:xfrm>
            <a:off x="1524384" y="3429000"/>
            <a:ext cx="1471064" cy="4422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7FCC6B-83CE-671C-16C1-8C69B72CC6BD}"/>
              </a:ext>
            </a:extLst>
          </p:cNvPr>
          <p:cNvSpPr txBox="1"/>
          <p:nvPr/>
        </p:nvSpPr>
        <p:spPr>
          <a:xfrm>
            <a:off x="7721601" y="2076179"/>
            <a:ext cx="4378036" cy="4220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function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initModalStarRating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querySelectorAll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".modal-	ratings .stars div"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console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log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querySelectorAll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".modal-	ratings .stars div"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forEach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star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addEventListener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"click"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()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forEach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=&gt;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	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s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"selected"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let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D19A66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index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; 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++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modalStars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[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].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add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"selected"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  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330C7-6EA3-1F66-B6B8-FBE04E27EEBF}"/>
              </a:ext>
            </a:extLst>
          </p:cNvPr>
          <p:cNvSpPr txBox="1"/>
          <p:nvPr/>
        </p:nvSpPr>
        <p:spPr>
          <a:xfrm>
            <a:off x="7609723" y="477494"/>
            <a:ext cx="103551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detail.js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157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4DCE8-F71D-D525-2013-88F7612D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532C5-AB98-58EF-AF38-B2EA5C2B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detail.html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45942-5428-974E-1974-3916463D0462}"/>
              </a:ext>
            </a:extLst>
          </p:cNvPr>
          <p:cNvSpPr txBox="1"/>
          <p:nvPr/>
        </p:nvSpPr>
        <p:spPr>
          <a:xfrm>
            <a:off x="449424" y="1108642"/>
            <a:ext cx="5458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유효성 검사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0EEF3A-CF30-0751-C6D3-30901DBF7120}"/>
              </a:ext>
            </a:extLst>
          </p:cNvPr>
          <p:cNvSpPr txBox="1"/>
          <p:nvPr/>
        </p:nvSpPr>
        <p:spPr>
          <a:xfrm>
            <a:off x="4254912" y="437589"/>
            <a:ext cx="3018248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r>
              <a:rPr lang="ko-KR" altLang="en-US" sz="1400" dirty="0"/>
              <a:t>프론트 시험에서의 유효성 검사와 같은 로직</a:t>
            </a:r>
            <a:r>
              <a:rPr lang="en-US" altLang="ko-KR" sz="1400" dirty="0"/>
              <a:t>.</a:t>
            </a:r>
          </a:p>
          <a:p>
            <a:pPr algn="ctr"/>
            <a:r>
              <a:rPr lang="ko-KR" altLang="en-US" sz="1400" dirty="0"/>
              <a:t>등록이 완료되면 </a:t>
            </a:r>
            <a:r>
              <a:rPr lang="ko-KR" altLang="en-US" sz="1400" dirty="0" err="1"/>
              <a:t>모달</a:t>
            </a:r>
            <a:r>
              <a:rPr lang="ko-KR" altLang="en-US" sz="1400" dirty="0"/>
              <a:t> 창을 닫는다</a:t>
            </a:r>
          </a:p>
        </p:txBody>
      </p:sp>
      <p:pic>
        <p:nvPicPr>
          <p:cNvPr id="4" name="그림 3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C42948-AFCE-F63D-2AF4-1A24B3AC78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04" r="12123"/>
          <a:stretch>
            <a:fillRect/>
          </a:stretch>
        </p:blipFill>
        <p:spPr>
          <a:xfrm>
            <a:off x="0" y="1673772"/>
            <a:ext cx="7609722" cy="502571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111C2D2-9652-2B09-D209-5C1D0FECA370}"/>
              </a:ext>
            </a:extLst>
          </p:cNvPr>
          <p:cNvSpPr/>
          <p:nvPr/>
        </p:nvSpPr>
        <p:spPr>
          <a:xfrm>
            <a:off x="1579324" y="4207410"/>
            <a:ext cx="4415076" cy="1445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EFE3D8-5BC7-366F-F1B2-489029F5639C}"/>
              </a:ext>
            </a:extLst>
          </p:cNvPr>
          <p:cNvSpPr txBox="1"/>
          <p:nvPr/>
        </p:nvSpPr>
        <p:spPr>
          <a:xfrm>
            <a:off x="7777018" y="1955346"/>
            <a:ext cx="4414982" cy="3784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function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checkValidity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content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getElementById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"review-	content"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const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title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getElementById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"review-title"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endParaRPr lang="en-US" altLang="ko-KR" sz="1200" b="0" dirty="0">
              <a:solidFill>
                <a:srgbClr val="ABB2BF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content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alert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내용을 입력하세요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title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value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==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alert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제목을 입력하세요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</a:t>
            </a:r>
            <a:r>
              <a:rPr lang="en-US" altLang="ko-KR" sz="1200" b="0" dirty="0">
                <a:solidFill>
                  <a:srgbClr val="C678DD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>
                <a:solidFill>
                  <a:srgbClr val="56B6C2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alert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</a:t>
            </a:r>
            <a:r>
              <a:rPr lang="ko-KR" altLang="en-US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리뷰 등록을 완료했습니다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  </a:t>
            </a:r>
            <a:r>
              <a:rPr lang="en-US" altLang="ko-KR" sz="1200" b="0" dirty="0" err="1">
                <a:solidFill>
                  <a:srgbClr val="E5C07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document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querySelector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".modal-	background"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).</a:t>
            </a:r>
            <a:r>
              <a:rPr lang="en-US" altLang="ko-KR" sz="1200" b="0" dirty="0" err="1">
                <a:solidFill>
                  <a:srgbClr val="E06C75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classList</a:t>
            </a:r>
            <a:r>
              <a:rPr lang="en-US" altLang="ko-KR" sz="1200" b="0" dirty="0" err="1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200" b="0" dirty="0" err="1">
                <a:solidFill>
                  <a:srgbClr val="61AFE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remove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200" b="0" dirty="0">
                <a:solidFill>
                  <a:srgbClr val="98C379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"active"</a:t>
            </a: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  }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200" b="0" dirty="0">
                <a:solidFill>
                  <a:srgbClr val="ABB2BF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A77C6E-7BBF-80A0-C7A3-5C7AB58D1C8A}"/>
              </a:ext>
            </a:extLst>
          </p:cNvPr>
          <p:cNvSpPr txBox="1"/>
          <p:nvPr/>
        </p:nvSpPr>
        <p:spPr>
          <a:xfrm>
            <a:off x="7609723" y="477494"/>
            <a:ext cx="103551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detail.js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321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35EC3-8BEF-A945-2A49-0A9073C79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2EF8D-3F41-359F-60C3-69806BF8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DE704A-B1CE-CE61-3473-E0EEF1089015}"/>
              </a:ext>
            </a:extLst>
          </p:cNvPr>
          <p:cNvSpPr txBox="1"/>
          <p:nvPr/>
        </p:nvSpPr>
        <p:spPr>
          <a:xfrm>
            <a:off x="449425" y="1108642"/>
            <a:ext cx="1409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설계 문서</a:t>
            </a:r>
          </a:p>
        </p:txBody>
      </p:sp>
      <p:pic>
        <p:nvPicPr>
          <p:cNvPr id="4" name="그림 3" descr="텍스트, 의류, 사람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1E40A5-912C-2A09-075C-B79AFA33F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021" y="1948214"/>
            <a:ext cx="5277054" cy="2961571"/>
          </a:xfrm>
          <a:prstGeom prst="rect">
            <a:avLst/>
          </a:prstGeom>
        </p:spPr>
      </p:pic>
      <p:pic>
        <p:nvPicPr>
          <p:cNvPr id="7" name="그림 6" descr="텍스트, 스크린샷,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270A13-50A2-864E-DECE-7CBB28DE0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79" y="362949"/>
            <a:ext cx="5277054" cy="2955311"/>
          </a:xfrm>
          <a:prstGeom prst="rect">
            <a:avLst/>
          </a:prstGeom>
        </p:spPr>
      </p:pic>
      <p:pic>
        <p:nvPicPr>
          <p:cNvPr id="8" name="그림 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6B681C-C753-2F9C-833C-05F5BB67C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79" y="3523194"/>
            <a:ext cx="5277054" cy="297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767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C45E7F-E962-65FD-AB9A-C1C1EB3E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778" y="4005277"/>
            <a:ext cx="4988505" cy="2677853"/>
          </a:xfrm>
          <a:prstGeom prst="rect">
            <a:avLst/>
          </a:prstGeom>
        </p:spPr>
      </p:pic>
      <p:pic>
        <p:nvPicPr>
          <p:cNvPr id="15" name="그림 14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F741B7-0B83-DE63-E3D4-3E2112202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778" y="1757063"/>
            <a:ext cx="4991797" cy="224821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95C2D9F4-3290-452E-8232-7DB2BCA89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55427"/>
            <a:ext cx="5646575" cy="869691"/>
          </a:xfrm>
        </p:spPr>
        <p:txBody>
          <a:bodyPr/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CE5572-CA8F-8B69-2FAD-310DF0BD3B48}"/>
              </a:ext>
            </a:extLst>
          </p:cNvPr>
          <p:cNvSpPr txBox="1"/>
          <p:nvPr/>
        </p:nvSpPr>
        <p:spPr>
          <a:xfrm>
            <a:off x="449425" y="1117878"/>
            <a:ext cx="4991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상품 정보 가져오기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4A2E2E-161B-82B1-7C22-19BD4E4202C5}"/>
              </a:ext>
            </a:extLst>
          </p:cNvPr>
          <p:cNvSpPr txBox="1"/>
          <p:nvPr/>
        </p:nvSpPr>
        <p:spPr>
          <a:xfrm>
            <a:off x="4254912" y="329866"/>
            <a:ext cx="3018248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map</a:t>
            </a:r>
            <a:r>
              <a:rPr lang="ko-KR" altLang="en-US" sz="1400" dirty="0"/>
              <a:t>함수 활용</a:t>
            </a:r>
            <a:endParaRPr lang="en-US" altLang="ko-KR" sz="1400" dirty="0"/>
          </a:p>
          <a:p>
            <a:pPr algn="ctr"/>
            <a:r>
              <a:rPr lang="en-US" altLang="ko-KR" sz="1400" dirty="0"/>
              <a:t> -&gt; </a:t>
            </a:r>
            <a:r>
              <a:rPr lang="ko-KR" altLang="en-US" sz="1400" dirty="0"/>
              <a:t>저장된 </a:t>
            </a:r>
            <a:r>
              <a:rPr lang="en-US" altLang="ko-KR" sz="1400" dirty="0"/>
              <a:t>id</a:t>
            </a:r>
            <a:r>
              <a:rPr lang="ko-KR" altLang="en-US" sz="1400" dirty="0"/>
              <a:t>와 같은 </a:t>
            </a:r>
            <a:r>
              <a:rPr lang="en-US" altLang="ko-KR" sz="1400" dirty="0"/>
              <a:t>id</a:t>
            </a:r>
            <a:r>
              <a:rPr lang="ko-KR" altLang="en-US" sz="1400" dirty="0"/>
              <a:t>를 </a:t>
            </a:r>
            <a:r>
              <a:rPr lang="en-US" altLang="ko-KR" sz="1400" dirty="0"/>
              <a:t>product</a:t>
            </a:r>
            <a:r>
              <a:rPr lang="ko-KR" altLang="en-US" sz="1400" dirty="0"/>
              <a:t>에서 찾고 사용자가 선택한 수량과 사이즈를 가져옴</a:t>
            </a:r>
            <a:endParaRPr lang="en-US" altLang="ko-KR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90152D-1520-081B-1410-2056EA73103A}"/>
              </a:ext>
            </a:extLst>
          </p:cNvPr>
          <p:cNvSpPr txBox="1"/>
          <p:nvPr/>
        </p:nvSpPr>
        <p:spPr>
          <a:xfrm>
            <a:off x="7618960" y="1185651"/>
            <a:ext cx="103551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cart.js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1" name="그림 10" descr="텍스트, 스크린샷, 신발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42EB41-63BA-CE6D-9E70-BED0CE89B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91" y="1757063"/>
            <a:ext cx="5933309" cy="489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7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 descr="텍스트, 스크린샷, 신발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9D26E5-90EE-F345-38AE-56D16F262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1" y="1757063"/>
            <a:ext cx="5933309" cy="4898261"/>
          </a:xfrm>
          <a:prstGeom prst="rect">
            <a:avLst/>
          </a:prstGeom>
        </p:spPr>
      </p:pic>
      <p:pic>
        <p:nvPicPr>
          <p:cNvPr id="13" name="그림 1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B127C9-0C71-4B51-AAC4-CA668DDC2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373" y="1757063"/>
            <a:ext cx="5602607" cy="3658111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A47959B-0B6B-7E7E-601C-A70053AAACD7}"/>
              </a:ext>
            </a:extLst>
          </p:cNvPr>
          <p:cNvCxnSpPr>
            <a:cxnSpLocks/>
          </p:cNvCxnSpPr>
          <p:nvPr/>
        </p:nvCxnSpPr>
        <p:spPr>
          <a:xfrm>
            <a:off x="2105982" y="4421420"/>
            <a:ext cx="4285582" cy="2983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제목 1">
            <a:extLst>
              <a:ext uri="{FF2B5EF4-FFF2-40B4-BE49-F238E27FC236}">
                <a16:creationId xmlns:a16="http://schemas.microsoft.com/office/drawing/2014/main" id="{FD4167EC-ECC1-E7E1-A955-85E63C7BE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A41B1-2FBB-5165-B29B-705265C85BF6}"/>
              </a:ext>
            </a:extLst>
          </p:cNvPr>
          <p:cNvSpPr txBox="1"/>
          <p:nvPr/>
        </p:nvSpPr>
        <p:spPr>
          <a:xfrm>
            <a:off x="449425" y="1108642"/>
            <a:ext cx="37900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수량 변경하기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594FE-93FA-B385-330D-193C941B40C3}"/>
              </a:ext>
            </a:extLst>
          </p:cNvPr>
          <p:cNvSpPr txBox="1"/>
          <p:nvPr/>
        </p:nvSpPr>
        <p:spPr>
          <a:xfrm>
            <a:off x="4244090" y="347010"/>
            <a:ext cx="3018248" cy="1169551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 err="1"/>
              <a:t>updateStorage</a:t>
            </a:r>
            <a:r>
              <a:rPr lang="en-US" altLang="ko-KR" sz="1400" dirty="0"/>
              <a:t>()</a:t>
            </a:r>
            <a:r>
              <a:rPr lang="ko-KR" altLang="en-US" sz="1400" dirty="0"/>
              <a:t>를 통해 </a:t>
            </a:r>
            <a:endParaRPr lang="en-US" altLang="ko-KR" sz="1400" dirty="0"/>
          </a:p>
          <a:p>
            <a:pPr algn="ctr"/>
            <a:r>
              <a:rPr lang="ko-KR" altLang="en-US" sz="1400" dirty="0"/>
              <a:t>변경된 내용을 </a:t>
            </a:r>
            <a:r>
              <a:rPr lang="ko-KR" altLang="en-US" sz="1400" dirty="0" err="1"/>
              <a:t>동기화시킴</a:t>
            </a:r>
            <a:r>
              <a:rPr lang="en-US" altLang="ko-KR" sz="1400" dirty="0"/>
              <a:t>.</a:t>
            </a:r>
          </a:p>
          <a:p>
            <a:pPr algn="ctr"/>
            <a:r>
              <a:rPr lang="en-US" altLang="ko-KR" sz="1400" dirty="0"/>
              <a:t> -&gt; </a:t>
            </a:r>
            <a:r>
              <a:rPr lang="en-US" altLang="ko-KR" sz="1400" dirty="0" err="1"/>
              <a:t>item.price</a:t>
            </a:r>
            <a:r>
              <a:rPr lang="en-US" altLang="ko-KR" sz="1400" dirty="0"/>
              <a:t> * </a:t>
            </a:r>
            <a:r>
              <a:rPr lang="en-US" altLang="ko-KR" sz="1400" dirty="0" err="1"/>
              <a:t>item.quantity</a:t>
            </a:r>
            <a:endParaRPr lang="en-US" altLang="ko-KR" sz="1400" dirty="0"/>
          </a:p>
          <a:p>
            <a:pPr algn="ctr"/>
            <a:r>
              <a:rPr lang="ko-KR" altLang="en-US" sz="1400" dirty="0"/>
              <a:t>다시 계산 후 화면에 출력</a:t>
            </a:r>
            <a:endParaRPr lang="en-US" altLang="ko-KR" sz="1400" dirty="0"/>
          </a:p>
          <a:p>
            <a:pPr algn="ctr"/>
            <a:r>
              <a:rPr lang="en-US" altLang="ko-KR" sz="1400" dirty="0" err="1"/>
              <a:t>toLocaleString</a:t>
            </a:r>
            <a:r>
              <a:rPr lang="en-US" altLang="ko-KR" sz="1400" dirty="0"/>
              <a:t>() =&gt; </a:t>
            </a:r>
            <a:r>
              <a:rPr lang="ko-KR" altLang="en-US" sz="1400" dirty="0"/>
              <a:t>세 자리마다 콤마 추가</a:t>
            </a:r>
            <a:endParaRPr lang="en-US" altLang="ko-KR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78106D-B4E3-5B12-2941-6962FB19D1A9}"/>
              </a:ext>
            </a:extLst>
          </p:cNvPr>
          <p:cNvSpPr txBox="1"/>
          <p:nvPr/>
        </p:nvSpPr>
        <p:spPr>
          <a:xfrm>
            <a:off x="7609723" y="1215680"/>
            <a:ext cx="103551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cart.js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454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 descr="텍스트, 스크린샷, 신발류, 신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6B6EA4-7F98-2F58-8033-6B0DA11F7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3" y="1766454"/>
            <a:ext cx="6306425" cy="28251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0D8271-185B-5220-01E0-FFCD1E97CD3F}"/>
              </a:ext>
            </a:extLst>
          </p:cNvPr>
          <p:cNvSpPr txBox="1"/>
          <p:nvPr/>
        </p:nvSpPr>
        <p:spPr>
          <a:xfrm>
            <a:off x="273378" y="2139885"/>
            <a:ext cx="461914" cy="46191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1B64EDD-BC5B-E630-EAAA-4176D5BC954A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735292" y="2370842"/>
            <a:ext cx="5918263" cy="724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그림 21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6F9D9C-1D4A-0B6B-C258-2CD44D304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555" y="1766454"/>
            <a:ext cx="5265067" cy="265842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70A1821-6761-F01E-5627-4A2C3ADA1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FBB5C-CEEC-B05E-1EE4-4ECA2829C377}"/>
              </a:ext>
            </a:extLst>
          </p:cNvPr>
          <p:cNvSpPr txBox="1"/>
          <p:nvPr/>
        </p:nvSpPr>
        <p:spPr>
          <a:xfrm>
            <a:off x="449425" y="1108642"/>
            <a:ext cx="3383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전체 삭제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D3AA2-ABC7-FC03-48B5-F76191ADE009}"/>
              </a:ext>
            </a:extLst>
          </p:cNvPr>
          <p:cNvSpPr txBox="1"/>
          <p:nvPr/>
        </p:nvSpPr>
        <p:spPr>
          <a:xfrm>
            <a:off x="4091709" y="562453"/>
            <a:ext cx="3170629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1400" dirty="0" err="1"/>
              <a:t>removeItem</a:t>
            </a:r>
            <a:r>
              <a:rPr lang="ko-KR" altLang="en-US" sz="1400" dirty="0"/>
              <a:t>으로 저장소에 있는 데이터 제거</a:t>
            </a:r>
            <a:endParaRPr lang="en-US" altLang="ko-KR" sz="1400" dirty="0"/>
          </a:p>
          <a:p>
            <a:pPr algn="ctr"/>
            <a:r>
              <a:rPr lang="en-US" altLang="ko-KR" sz="1400" dirty="0"/>
              <a:t> -&gt; </a:t>
            </a:r>
            <a:r>
              <a:rPr lang="en-US" altLang="ko-KR" sz="1400" dirty="0" err="1"/>
              <a:t>renderCart</a:t>
            </a:r>
            <a:r>
              <a:rPr lang="en-US" altLang="ko-KR" sz="1400" dirty="0"/>
              <a:t>()</a:t>
            </a:r>
            <a:r>
              <a:rPr lang="ko-KR" altLang="en-US" sz="1400" dirty="0"/>
              <a:t>로 </a:t>
            </a:r>
            <a:r>
              <a:rPr lang="ko-KR" altLang="en-US" sz="1400" dirty="0" err="1"/>
              <a:t>비어있는</a:t>
            </a:r>
            <a:r>
              <a:rPr lang="ko-KR" altLang="en-US" sz="1400" dirty="0"/>
              <a:t> 상태에서 다시 </a:t>
            </a:r>
            <a:r>
              <a:rPr lang="en-US" altLang="ko-KR" sz="1400" dirty="0"/>
              <a:t>    </a:t>
            </a:r>
            <a:r>
              <a:rPr lang="ko-KR" altLang="en-US" sz="1400" dirty="0"/>
              <a:t>장바구니 그리기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65A93-B221-0C8E-2BFA-B3DFA91E5EAB}"/>
              </a:ext>
            </a:extLst>
          </p:cNvPr>
          <p:cNvSpPr txBox="1"/>
          <p:nvPr/>
        </p:nvSpPr>
        <p:spPr>
          <a:xfrm>
            <a:off x="7655905" y="1301117"/>
            <a:ext cx="103551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cart.js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213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6139E5-5EF7-BD9D-FBA8-3DE332566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803" y="1766454"/>
            <a:ext cx="5532704" cy="196077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B9D16420-019D-188C-E159-BC216F6F9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55150-CE97-9194-94A9-A8EAB3059665}"/>
              </a:ext>
            </a:extLst>
          </p:cNvPr>
          <p:cNvSpPr txBox="1"/>
          <p:nvPr/>
        </p:nvSpPr>
        <p:spPr>
          <a:xfrm>
            <a:off x="449425" y="1108642"/>
            <a:ext cx="3485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선택 삭제</a:t>
            </a:r>
          </a:p>
        </p:txBody>
      </p:sp>
      <p:pic>
        <p:nvPicPr>
          <p:cNvPr id="9" name="그림 8" descr="텍스트, 스크린샷, 신발류, 신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52E47A-5BFD-1BF3-2DC9-BDF1AAB1E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83" y="1766454"/>
            <a:ext cx="6306425" cy="28251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D220F3-F2FE-DD3F-CE9F-58DDE0B90C53}"/>
              </a:ext>
            </a:extLst>
          </p:cNvPr>
          <p:cNvSpPr txBox="1"/>
          <p:nvPr/>
        </p:nvSpPr>
        <p:spPr>
          <a:xfrm>
            <a:off x="809087" y="2135785"/>
            <a:ext cx="461914" cy="46191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E515934-5282-76A5-8422-01A98D0F25D8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1271001" y="2366742"/>
            <a:ext cx="5918263" cy="724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3C0A378-AEED-0756-E384-39AB2611B065}"/>
              </a:ext>
            </a:extLst>
          </p:cNvPr>
          <p:cNvSpPr txBox="1"/>
          <p:nvPr/>
        </p:nvSpPr>
        <p:spPr>
          <a:xfrm>
            <a:off x="3426691" y="454731"/>
            <a:ext cx="3835647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r>
              <a:rPr lang="ko-KR" altLang="en-US" sz="1400" dirty="0"/>
              <a:t>체크박스에 선택된 내용을 </a:t>
            </a:r>
            <a:r>
              <a:rPr lang="en-US" altLang="ko-KR" sz="1400" dirty="0" err="1"/>
              <a:t>querySelectorAll</a:t>
            </a:r>
            <a:r>
              <a:rPr lang="ko-KR" altLang="en-US" sz="1400" dirty="0"/>
              <a:t>로 수집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checkbox</a:t>
            </a:r>
            <a:r>
              <a:rPr lang="ko-KR" altLang="en-US" sz="1400" dirty="0"/>
              <a:t>가 선택되지 않은 배열만 </a:t>
            </a:r>
            <a:endParaRPr lang="en-US" altLang="ko-KR" sz="1400" dirty="0"/>
          </a:p>
          <a:p>
            <a:pPr algn="ctr"/>
            <a:r>
              <a:rPr lang="en-US" altLang="ko-KR" sz="1400" dirty="0"/>
              <a:t>storage</a:t>
            </a:r>
            <a:r>
              <a:rPr lang="ko-KR" altLang="en-US" sz="1400" dirty="0"/>
              <a:t>에 저장 후 </a:t>
            </a:r>
            <a:r>
              <a:rPr lang="en-US" altLang="ko-KR" sz="1400" dirty="0" err="1"/>
              <a:t>renderCart</a:t>
            </a:r>
            <a:r>
              <a:rPr lang="en-US" altLang="ko-KR" sz="1400" dirty="0"/>
              <a:t>()</a:t>
            </a:r>
            <a:r>
              <a:rPr lang="ko-KR" altLang="en-US" sz="1400" dirty="0"/>
              <a:t>로 다시 장바구니 출력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37454B-4C9A-3ACB-B53A-C5C76FFBEF2E}"/>
              </a:ext>
            </a:extLst>
          </p:cNvPr>
          <p:cNvSpPr txBox="1"/>
          <p:nvPr/>
        </p:nvSpPr>
        <p:spPr>
          <a:xfrm>
            <a:off x="7637432" y="1277366"/>
            <a:ext cx="103551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cart.js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954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5413F-0C3A-039D-2C53-3DA4E360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7A43EE-4BD6-773D-AD7C-CBB0DA9FB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5043"/>
            <a:ext cx="4602881" cy="4793371"/>
          </a:xfrm>
          <a:prstGeom prst="rect">
            <a:avLst/>
          </a:prstGeom>
        </p:spPr>
      </p:pic>
      <p:pic>
        <p:nvPicPr>
          <p:cNvPr id="17" name="그림 1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39B549-B3D4-6943-EF70-42EF072C0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324" y="2663753"/>
            <a:ext cx="4739084" cy="4171044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72520BDE-3E67-BA81-E7C2-C291D351A809}"/>
              </a:ext>
            </a:extLst>
          </p:cNvPr>
          <p:cNvSpPr/>
          <p:nvPr/>
        </p:nvSpPr>
        <p:spPr>
          <a:xfrm>
            <a:off x="4602881" y="3203769"/>
            <a:ext cx="1082662" cy="772998"/>
          </a:xfrm>
          <a:prstGeom prst="rightArrow">
            <a:avLst>
              <a:gd name="adj1" fmla="val 40441"/>
              <a:gd name="adj2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F629AA-47CD-E56E-1DBF-5B8931CA4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983" y="955026"/>
            <a:ext cx="3048425" cy="16099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4870726-7A55-FD8D-C69E-9054DDDCB99B}"/>
              </a:ext>
            </a:extLst>
          </p:cNvPr>
          <p:cNvSpPr txBox="1"/>
          <p:nvPr/>
        </p:nvSpPr>
        <p:spPr>
          <a:xfrm>
            <a:off x="3990109" y="2192307"/>
            <a:ext cx="367821" cy="38946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4E28E62-F954-2FA1-D2C3-12BED413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579D10-E463-98D8-F048-88471EBCE885}"/>
              </a:ext>
            </a:extLst>
          </p:cNvPr>
          <p:cNvSpPr txBox="1"/>
          <p:nvPr/>
        </p:nvSpPr>
        <p:spPr>
          <a:xfrm>
            <a:off x="449424" y="1108642"/>
            <a:ext cx="4332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 err="1">
                <a:solidFill>
                  <a:schemeClr val="bg1"/>
                </a:solidFill>
              </a:rPr>
              <a:t>쿠폰창</a:t>
            </a:r>
            <a:r>
              <a:rPr lang="ko-KR" altLang="en-US" sz="2400" dirty="0">
                <a:solidFill>
                  <a:schemeClr val="bg1"/>
                </a:solidFill>
              </a:rPr>
              <a:t> 숨기기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E7193-8B0D-E059-FF49-4CF4AD63D3E0}"/>
              </a:ext>
            </a:extLst>
          </p:cNvPr>
          <p:cNvSpPr txBox="1"/>
          <p:nvPr/>
        </p:nvSpPr>
        <p:spPr>
          <a:xfrm>
            <a:off x="3426691" y="670174"/>
            <a:ext cx="3835647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화살표를 누르면 </a:t>
            </a:r>
            <a:r>
              <a:rPr lang="en-US" altLang="ko-KR" sz="1400" dirty="0"/>
              <a:t>hide</a:t>
            </a:r>
            <a:r>
              <a:rPr lang="ko-KR" altLang="en-US" sz="1400" dirty="0"/>
              <a:t>를 통해 </a:t>
            </a:r>
            <a:r>
              <a:rPr lang="en-US" altLang="ko-KR" sz="1400" dirty="0"/>
              <a:t>coupon-content</a:t>
            </a:r>
            <a:r>
              <a:rPr lang="ko-KR" altLang="en-US" sz="1400" dirty="0"/>
              <a:t>의 내용이 보이지 않고</a:t>
            </a:r>
            <a:r>
              <a:rPr lang="en-US" altLang="ko-KR" sz="1400" dirty="0"/>
              <a:t>, </a:t>
            </a:r>
            <a:r>
              <a:rPr lang="ko-KR" altLang="en-US" sz="1400" dirty="0"/>
              <a:t>화살표의 방향이 변경</a:t>
            </a:r>
            <a:r>
              <a:rPr lang="en-US" altLang="ko-KR" sz="1400" dirty="0"/>
              <a:t>(rotate)</a:t>
            </a:r>
            <a:r>
              <a:rPr lang="ko-KR" altLang="en-US" sz="1400" dirty="0"/>
              <a:t>됨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5FE57C-7029-B06E-55BA-56942C3560E1}"/>
              </a:ext>
            </a:extLst>
          </p:cNvPr>
          <p:cNvSpPr txBox="1"/>
          <p:nvPr/>
        </p:nvSpPr>
        <p:spPr>
          <a:xfrm>
            <a:off x="7609723" y="477494"/>
            <a:ext cx="1035514" cy="448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cart.css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5786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9DFB3F-DFAC-9A70-7FCC-A165E4043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624" y="2379004"/>
            <a:ext cx="5349360" cy="3559773"/>
          </a:xfrm>
          <a:prstGeom prst="rect">
            <a:avLst/>
          </a:prstGeom>
        </p:spPr>
      </p:pic>
      <p:pic>
        <p:nvPicPr>
          <p:cNvPr id="13" name="내용 개체 틀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53459D-E10A-6B60-E456-4507C16C0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201" y="4158891"/>
            <a:ext cx="3679959" cy="2545281"/>
          </a:xfrm>
          <a:prstGeom prst="rect">
            <a:avLst/>
          </a:prstGeom>
        </p:spPr>
      </p:pic>
      <p:pic>
        <p:nvPicPr>
          <p:cNvPr id="11" name="그림 10" descr="텍스트, 의류, 스크린샷, 패션 액세서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CAC0F1-40C3-B90A-1119-6FD154BAA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02" y="1570307"/>
            <a:ext cx="3679959" cy="2486815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4B4D11C4-10D6-25E5-2B6A-691A02123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EF201-038B-F3A0-0B1F-2A2A93B87053}"/>
              </a:ext>
            </a:extLst>
          </p:cNvPr>
          <p:cNvSpPr txBox="1"/>
          <p:nvPr/>
        </p:nvSpPr>
        <p:spPr>
          <a:xfrm>
            <a:off x="449424" y="1108642"/>
            <a:ext cx="4410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총 상품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및</a:t>
            </a:r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ko-KR" altLang="en-US" sz="2400" dirty="0">
                <a:solidFill>
                  <a:schemeClr val="bg1"/>
                </a:solidFill>
              </a:rPr>
              <a:t>결제 금액 계산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21604C-643D-16FD-1EF4-EFD70EAB8C5B}"/>
              </a:ext>
            </a:extLst>
          </p:cNvPr>
          <p:cNvSpPr txBox="1"/>
          <p:nvPr/>
        </p:nvSpPr>
        <p:spPr>
          <a:xfrm>
            <a:off x="7038108" y="434148"/>
            <a:ext cx="4246787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r>
              <a:rPr lang="ko-KR" altLang="en-US" sz="1400" dirty="0"/>
              <a:t>총 상품금액</a:t>
            </a:r>
            <a:endParaRPr lang="en-US" altLang="ko-KR" sz="1400" dirty="0"/>
          </a:p>
          <a:p>
            <a:r>
              <a:rPr lang="en-US" altLang="ko-KR" sz="1400" dirty="0"/>
              <a:t>-&gt; sum</a:t>
            </a:r>
            <a:r>
              <a:rPr lang="ko-KR" altLang="en-US" sz="1400" dirty="0"/>
              <a:t> 초기값 </a:t>
            </a:r>
            <a:r>
              <a:rPr lang="en-US" altLang="ko-KR" sz="1400" dirty="0"/>
              <a:t>0</a:t>
            </a:r>
            <a:r>
              <a:rPr lang="ko-KR" altLang="en-US" sz="1400" dirty="0"/>
              <a:t>으로 설정 후 각 상품의 가격과 수량을 곱한</a:t>
            </a:r>
            <a:r>
              <a:rPr lang="en-US" altLang="ko-KR" sz="1400" dirty="0"/>
              <a:t> </a:t>
            </a:r>
            <a:r>
              <a:rPr lang="ko-KR" altLang="en-US" sz="1400" dirty="0"/>
              <a:t>값</a:t>
            </a:r>
            <a:endParaRPr lang="en-US" altLang="ko-KR" sz="1400" dirty="0"/>
          </a:p>
          <a:p>
            <a:r>
              <a:rPr lang="en-US" altLang="ko-KR" sz="1400" dirty="0"/>
              <a:t>reduce() = </a:t>
            </a:r>
            <a:r>
              <a:rPr lang="ko-KR" altLang="en-US" sz="1400" dirty="0"/>
              <a:t>배열의 값 계산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E93B96-B4CF-6C4D-CABF-DF1F66E64644}"/>
              </a:ext>
            </a:extLst>
          </p:cNvPr>
          <p:cNvSpPr txBox="1"/>
          <p:nvPr/>
        </p:nvSpPr>
        <p:spPr>
          <a:xfrm>
            <a:off x="8718086" y="1852504"/>
            <a:ext cx="1035514" cy="448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cart.js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981CEE-72A5-161C-7789-7D23B9DBFA05}"/>
              </a:ext>
            </a:extLst>
          </p:cNvPr>
          <p:cNvSpPr txBox="1"/>
          <p:nvPr/>
        </p:nvSpPr>
        <p:spPr>
          <a:xfrm>
            <a:off x="7038108" y="1251048"/>
            <a:ext cx="4246787" cy="52322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r>
              <a:rPr lang="ko-KR" altLang="en-US" sz="1400" dirty="0"/>
              <a:t>총 결제금액</a:t>
            </a:r>
            <a:endParaRPr lang="en-US" altLang="ko-KR" sz="1400" dirty="0"/>
          </a:p>
          <a:p>
            <a:r>
              <a:rPr lang="en-US" altLang="ko-KR" sz="1400" dirty="0"/>
              <a:t>-&gt; </a:t>
            </a:r>
            <a:r>
              <a:rPr lang="ko-KR" altLang="en-US" sz="1400" dirty="0"/>
              <a:t>총 상품금액에서 배송비를 더하고</a:t>
            </a:r>
            <a:r>
              <a:rPr lang="en-US" altLang="ko-KR" sz="1400" dirty="0"/>
              <a:t>, </a:t>
            </a:r>
            <a:r>
              <a:rPr lang="ko-KR" altLang="en-US" sz="1400" dirty="0"/>
              <a:t>총 할인금액을 뺀 값</a:t>
            </a:r>
          </a:p>
        </p:txBody>
      </p:sp>
    </p:spTree>
    <p:extLst>
      <p:ext uri="{BB962C8B-B14F-4D97-AF65-F5344CB8AC3E}">
        <p14:creationId xmlns:p14="http://schemas.microsoft.com/office/powerpoint/2010/main" val="2704762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00EB33-1A22-91B2-76AF-F0B5CB93D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452" y="3110218"/>
            <a:ext cx="10515600" cy="3474163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7BA712-6F60-9AA4-7798-45047C7A8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149" y="1733852"/>
            <a:ext cx="5934903" cy="1212821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EC2BBF3A-81DD-430E-4248-4A9BB4819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E0AE92-69BD-FE53-701E-BC20F43F7F77}"/>
              </a:ext>
            </a:extLst>
          </p:cNvPr>
          <p:cNvSpPr txBox="1"/>
          <p:nvPr/>
        </p:nvSpPr>
        <p:spPr>
          <a:xfrm>
            <a:off x="449424" y="1108642"/>
            <a:ext cx="2349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배송비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3EB36D-4119-77CA-6124-3272FA21A188}"/>
              </a:ext>
            </a:extLst>
          </p:cNvPr>
          <p:cNvSpPr txBox="1"/>
          <p:nvPr/>
        </p:nvSpPr>
        <p:spPr>
          <a:xfrm>
            <a:off x="3592945" y="913416"/>
            <a:ext cx="3489441" cy="738664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400" dirty="0"/>
              <a:t>배송비</a:t>
            </a:r>
            <a:endParaRPr lang="en-US" altLang="ko-KR" sz="1400" dirty="0"/>
          </a:p>
          <a:p>
            <a:pPr algn="ctr"/>
            <a:r>
              <a:rPr lang="en-US" altLang="ko-KR" sz="1400" dirty="0"/>
              <a:t> -&gt; </a:t>
            </a:r>
            <a:r>
              <a:rPr lang="ko-KR" altLang="en-US" sz="1400" dirty="0"/>
              <a:t>총 상품금액이 </a:t>
            </a:r>
            <a:r>
              <a:rPr lang="en-US" altLang="ko-KR" sz="1400" dirty="0"/>
              <a:t>10</a:t>
            </a:r>
            <a:r>
              <a:rPr lang="ko-KR" altLang="en-US" sz="1400" dirty="0"/>
              <a:t>만원 이상이거나 상품이 없으면 배송비 </a:t>
            </a:r>
            <a:r>
              <a:rPr lang="en-US" altLang="ko-KR" sz="1400" dirty="0"/>
              <a:t>0</a:t>
            </a:r>
            <a:r>
              <a:rPr lang="ko-KR" altLang="en-US" sz="1400" dirty="0"/>
              <a:t>원</a:t>
            </a:r>
            <a:r>
              <a:rPr lang="en-US" altLang="ko-KR" sz="1400" dirty="0"/>
              <a:t>, </a:t>
            </a:r>
            <a:r>
              <a:rPr lang="ko-KR" altLang="en-US" sz="1400" dirty="0"/>
              <a:t>아니면 배송비 </a:t>
            </a:r>
            <a:r>
              <a:rPr lang="en-US" altLang="ko-KR" sz="1400" dirty="0"/>
              <a:t>3,000</a:t>
            </a:r>
            <a:r>
              <a:rPr lang="ko-KR" altLang="en-US" sz="1400" dirty="0"/>
              <a:t>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A3F288-D828-859C-59EB-28BB827354A3}"/>
              </a:ext>
            </a:extLst>
          </p:cNvPr>
          <p:cNvSpPr txBox="1"/>
          <p:nvPr/>
        </p:nvSpPr>
        <p:spPr>
          <a:xfrm>
            <a:off x="7683614" y="1197788"/>
            <a:ext cx="103551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cart.js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477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04CD3-6A60-C463-92A4-545BF5FF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A8B7FF-89F2-ED09-2DFB-9E973AEB0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721" y="604726"/>
            <a:ext cx="4224641" cy="1745095"/>
          </a:xfrm>
          <a:prstGeom prst="rect">
            <a:avLst/>
          </a:prstGeom>
        </p:spPr>
      </p:pic>
      <p:pic>
        <p:nvPicPr>
          <p:cNvPr id="5" name="내용 개체 틀 4" descr="스크린샷, 신발, 텍스트, 스니커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800692-3009-C33F-B491-0C86E64006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76328" y="4073787"/>
            <a:ext cx="6673381" cy="237319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C83FFCC-D496-A2AF-5C44-BDE24134B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425" y="246191"/>
            <a:ext cx="5646575" cy="869691"/>
          </a:xfrm>
        </p:spPr>
        <p:txBody>
          <a:bodyPr/>
          <a:lstStyle/>
          <a:p>
            <a:r>
              <a:rPr lang="en-US" altLang="ko-KR" dirty="0"/>
              <a:t>cart.html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83F30-2B9E-BED4-45DC-0480F9B70F08}"/>
              </a:ext>
            </a:extLst>
          </p:cNvPr>
          <p:cNvSpPr txBox="1"/>
          <p:nvPr/>
        </p:nvSpPr>
        <p:spPr>
          <a:xfrm>
            <a:off x="449424" y="1108642"/>
            <a:ext cx="3633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</a:rPr>
              <a:t>구현 기능 </a:t>
            </a:r>
            <a:r>
              <a:rPr lang="en-US" altLang="ko-KR" sz="2400" dirty="0">
                <a:solidFill>
                  <a:schemeClr val="bg1"/>
                </a:solidFill>
              </a:rPr>
              <a:t>- </a:t>
            </a:r>
            <a:r>
              <a:rPr lang="ko-KR" altLang="en-US" sz="2400" dirty="0">
                <a:solidFill>
                  <a:schemeClr val="bg1"/>
                </a:solidFill>
              </a:rPr>
              <a:t>다른 상품 슬라이더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30C23-4740-2282-AECC-7ED786DE6E88}"/>
              </a:ext>
            </a:extLst>
          </p:cNvPr>
          <p:cNvSpPr txBox="1"/>
          <p:nvPr/>
        </p:nvSpPr>
        <p:spPr>
          <a:xfrm>
            <a:off x="4040559" y="719353"/>
            <a:ext cx="3027623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20% </a:t>
            </a:r>
            <a:r>
              <a:rPr lang="ko-KR" altLang="en-US" sz="1400" dirty="0"/>
              <a:t>에 인덱스를 곱한 값만큼 </a:t>
            </a:r>
            <a:r>
              <a:rPr lang="en-US" altLang="ko-KR" sz="1400" dirty="0"/>
              <a:t>translate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ADAEBB-091C-C84A-0372-1B3713591E22}"/>
              </a:ext>
            </a:extLst>
          </p:cNvPr>
          <p:cNvSpPr txBox="1"/>
          <p:nvPr/>
        </p:nvSpPr>
        <p:spPr>
          <a:xfrm>
            <a:off x="7480936" y="136093"/>
            <a:ext cx="103551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bg1"/>
                </a:solidFill>
              </a:rPr>
              <a:t>cart.js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12" name="그림 11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F5A1B1-F3CF-2E09-1710-EB7A29923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2328" y="2432758"/>
            <a:ext cx="4107426" cy="4250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11C2B2-260F-AC1D-8646-E0AD47CB9E6C}"/>
              </a:ext>
            </a:extLst>
          </p:cNvPr>
          <p:cNvSpPr txBox="1"/>
          <p:nvPr/>
        </p:nvSpPr>
        <p:spPr>
          <a:xfrm>
            <a:off x="3435133" y="2432758"/>
            <a:ext cx="3633049" cy="1384995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/>
              <a:t>next</a:t>
            </a:r>
          </a:p>
          <a:p>
            <a:pPr marL="285750" indent="-285750" algn="ctr">
              <a:buFont typeface="Symbol" panose="05050102010706020507" pitchFamily="18" charset="2"/>
              <a:buChar char="Þ"/>
            </a:pPr>
            <a:r>
              <a:rPr lang="en-US" altLang="ko-KR" sz="1400" dirty="0" err="1"/>
              <a:t>listcount</a:t>
            </a:r>
            <a:r>
              <a:rPr lang="en-US" altLang="ko-KR" sz="1400" dirty="0"/>
              <a:t> – </a:t>
            </a:r>
            <a:r>
              <a:rPr lang="en-US" altLang="ko-KR" sz="1400" dirty="0" err="1"/>
              <a:t>itemshow</a:t>
            </a:r>
            <a:r>
              <a:rPr lang="ko-KR" altLang="en-US" sz="1400" dirty="0"/>
              <a:t>가 </a:t>
            </a:r>
            <a:r>
              <a:rPr lang="en-US" altLang="ko-KR" sz="1400" dirty="0"/>
              <a:t>index</a:t>
            </a:r>
            <a:r>
              <a:rPr lang="ko-KR" altLang="en-US" sz="1400" dirty="0"/>
              <a:t>보다 작아지면 다시 왼쪽으로 돌아옴</a:t>
            </a:r>
            <a:endParaRPr lang="en-US" altLang="ko-KR" sz="1400" dirty="0"/>
          </a:p>
          <a:p>
            <a:pPr algn="ctr"/>
            <a:endParaRPr lang="en-US" altLang="ko-KR" sz="1400" dirty="0"/>
          </a:p>
          <a:p>
            <a:pPr algn="ctr"/>
            <a:r>
              <a:rPr lang="en-US" altLang="ko-KR" sz="1400" dirty="0" err="1"/>
              <a:t>prev</a:t>
            </a:r>
            <a:endParaRPr lang="en-US" altLang="ko-KR" sz="1400" dirty="0"/>
          </a:p>
          <a:p>
            <a:pPr marL="285750" indent="-285750" algn="ctr">
              <a:buFont typeface="Symbol" panose="05050102010706020507" pitchFamily="18" charset="2"/>
              <a:buChar char="Þ"/>
            </a:pPr>
            <a:r>
              <a:rPr lang="ko-KR" altLang="en-US" sz="1400" dirty="0"/>
              <a:t>인덱스가 </a:t>
            </a:r>
            <a:r>
              <a:rPr lang="en-US" altLang="ko-KR" sz="1400" dirty="0"/>
              <a:t>0</a:t>
            </a:r>
            <a:r>
              <a:rPr lang="ko-KR" altLang="en-US" sz="1400" dirty="0"/>
              <a:t>보다 작아지면 맨 </a:t>
            </a:r>
            <a:r>
              <a:rPr lang="ko-KR" altLang="en-US" sz="1400" dirty="0" err="1"/>
              <a:t>오른쪽으로이동</a:t>
            </a:r>
            <a:endParaRPr lang="en-US" altLang="ko-KR" sz="14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55E5C32-70EB-0E65-157C-06FBDD5E3490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068182" y="873242"/>
            <a:ext cx="295539" cy="604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EB049CA-3FA1-2492-AAF8-6A1A60A58098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7068182" y="3125256"/>
            <a:ext cx="354146" cy="14328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692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619BA-23D3-B836-D7C4-AB84A3B7F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18ED7-E0B7-641B-8894-AB1E5D91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749" y="1737150"/>
            <a:ext cx="6034502" cy="1591845"/>
          </a:xfrm>
        </p:spPr>
        <p:txBody>
          <a:bodyPr>
            <a:normAutofit/>
          </a:bodyPr>
          <a:lstStyle/>
          <a:p>
            <a:pPr algn="ctr"/>
            <a:r>
              <a:rPr lang="ko-KR" altLang="en-US" sz="7600" dirty="0"/>
              <a:t>시연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63F68-07AD-34B4-8031-7CF68E98A0F6}"/>
              </a:ext>
            </a:extLst>
          </p:cNvPr>
          <p:cNvSpPr txBox="1"/>
          <p:nvPr/>
        </p:nvSpPr>
        <p:spPr>
          <a:xfrm>
            <a:off x="2128982" y="3500582"/>
            <a:ext cx="793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</a:rPr>
              <a:t>Github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링크</a:t>
            </a:r>
          </a:p>
        </p:txBody>
      </p:sp>
    </p:spTree>
    <p:extLst>
      <p:ext uri="{BB962C8B-B14F-4D97-AF65-F5344CB8AC3E}">
        <p14:creationId xmlns:p14="http://schemas.microsoft.com/office/powerpoint/2010/main" val="3241496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Do Hyeon"/>
        <a:ea typeface="Do Hyeon"/>
        <a:cs typeface=""/>
      </a:majorFont>
      <a:minorFont>
        <a:latin typeface="Do Hyeon"/>
        <a:ea typeface="Do Hyeo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1978</Words>
  <Application>Microsoft Office PowerPoint</Application>
  <PresentationFormat>와이드스크린</PresentationFormat>
  <Paragraphs>289</Paragraphs>
  <Slides>33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0" baseType="lpstr">
      <vt:lpstr>D2Coding</vt:lpstr>
      <vt:lpstr>D2Coding ligature</vt:lpstr>
      <vt:lpstr>Do Hyeon</vt:lpstr>
      <vt:lpstr>맑은 고딕</vt:lpstr>
      <vt:lpstr>Arial</vt:lpstr>
      <vt:lpstr>Symbol</vt:lpstr>
      <vt:lpstr>Office 테마</vt:lpstr>
      <vt:lpstr>PowerPoint 프레젠테이션</vt:lpstr>
      <vt:lpstr>목차</vt:lpstr>
      <vt:lpstr>프로젝트 개요</vt:lpstr>
      <vt:lpstr>프로젝트 개요</vt:lpstr>
      <vt:lpstr>설계 페이지</vt:lpstr>
      <vt:lpstr>index.html</vt:lpstr>
      <vt:lpstr>index.html</vt:lpstr>
      <vt:lpstr>index.html</vt:lpstr>
      <vt:lpstr>index.html</vt:lpstr>
      <vt:lpstr>index.html</vt:lpstr>
      <vt:lpstr>product.html</vt:lpstr>
      <vt:lpstr>product.html</vt:lpstr>
      <vt:lpstr>product.html</vt:lpstr>
      <vt:lpstr>detail.html</vt:lpstr>
      <vt:lpstr>detail.html</vt:lpstr>
      <vt:lpstr>detail.html</vt:lpstr>
      <vt:lpstr>detail.html</vt:lpstr>
      <vt:lpstr>detail.html</vt:lpstr>
      <vt:lpstr>detail.html</vt:lpstr>
      <vt:lpstr>detail.html</vt:lpstr>
      <vt:lpstr>detail.html</vt:lpstr>
      <vt:lpstr>detail.html</vt:lpstr>
      <vt:lpstr>detail.html</vt:lpstr>
      <vt:lpstr>cart.html</vt:lpstr>
      <vt:lpstr>cart.html</vt:lpstr>
      <vt:lpstr>cart.html</vt:lpstr>
      <vt:lpstr>cart.html</vt:lpstr>
      <vt:lpstr>cart.html</vt:lpstr>
      <vt:lpstr>cart.html</vt:lpstr>
      <vt:lpstr>cart.html</vt:lpstr>
      <vt:lpstr>cart.html</vt:lpstr>
      <vt:lpstr>cart.html</vt:lpstr>
      <vt:lpstr>시연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현겸 이</dc:creator>
  <cp:lastModifiedBy>현겸 이</cp:lastModifiedBy>
  <cp:revision>10</cp:revision>
  <dcterms:created xsi:type="dcterms:W3CDTF">2026-02-25T02:04:35Z</dcterms:created>
  <dcterms:modified xsi:type="dcterms:W3CDTF">2026-02-25T07:20:55Z</dcterms:modified>
</cp:coreProperties>
</file>