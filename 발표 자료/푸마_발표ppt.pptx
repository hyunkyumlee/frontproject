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69" r:id="rId4"/>
    <p:sldId id="270" r:id="rId5"/>
    <p:sldId id="258" r:id="rId6"/>
    <p:sldId id="259" r:id="rId7"/>
    <p:sldId id="260" r:id="rId8"/>
    <p:sldId id="271" r:id="rId9"/>
    <p:sldId id="272" r:id="rId10"/>
    <p:sldId id="273" r:id="rId11"/>
    <p:sldId id="261" r:id="rId12"/>
    <p:sldId id="267" r:id="rId13"/>
    <p:sldId id="262" r:id="rId14"/>
    <p:sldId id="263" r:id="rId15"/>
    <p:sldId id="268" r:id="rId16"/>
    <p:sldId id="264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65" r:id="rId25"/>
    <p:sldId id="281" r:id="rId26"/>
    <p:sldId id="283" r:id="rId27"/>
    <p:sldId id="284" r:id="rId28"/>
    <p:sldId id="286" r:id="rId29"/>
    <p:sldId id="287" r:id="rId30"/>
    <p:sldId id="288" r:id="rId31"/>
    <p:sldId id="289" r:id="rId32"/>
    <p:sldId id="290" r:id="rId3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3111D"/>
    <a:srgbClr val="110E20"/>
    <a:srgbClr val="1F1A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7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04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62A040-A451-4CB4-AE05-6BFDA0D12BD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546922-AEB4-4E37-951D-32FCDADC0A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86428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9D6524-C5DF-4344-A05D-2AA082C8C1B1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20438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Pr>
        <a:solidFill>
          <a:srgbClr val="110E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942A3A-BAB2-C3D1-759D-88D3A3B951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5402DCA-0AED-EB77-1236-4F9954E76F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A0605B-DE46-F086-55C6-05E30B6A4F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6CBDD86-58A9-16DA-3153-EAD94B90C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4DF1DE-7AEF-9D5B-8C79-A233D5252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73817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5F9501-1078-C0C9-49A9-DA384BCB7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F31236-BA93-036A-4329-6699C0775B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BC12AB-75CB-675B-8E8C-BE22F9350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9EDF5E-0E77-7E1B-B900-30966AD66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C84928-E62A-D7E9-9EE4-608C5FAE5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73127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A91926-D0BA-8AFF-D20C-EEADE3AFC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35DA29D-ABC0-39CB-E14F-2C1099E356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E771F86-352D-C3C6-5C17-116C3F85D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B40BE8-F9A4-4BD1-4B97-29D3E6D88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2288E0E-8593-D999-1602-40234B365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87960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1827A3-C250-F4FC-7511-DD458276F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88F75A-9A9A-581F-D707-B4D0AD1006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7B7385D-7104-1558-2B10-88CFE4E6F8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2FB6606-2CF1-E6D5-5A92-274B74737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7EE646B-2060-BC8F-D85E-3D2137863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A20CA72-A676-D6DE-BE3B-DB10F44E8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62909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BCDA8C-46E1-D60E-4695-48919E7E68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36A59EB-39C8-E7F1-7A72-1C2A37614E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16469A-4391-3F6A-035B-C83284B7B7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215586F-EB0C-56F5-0CAA-8615BDA1F5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A4F7DA8-F2C8-0171-3784-CF0975DA0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7D7569B-D0A8-FE16-C0EF-5923457890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8160C63-F3D9-3903-E45E-91CDD358E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390784A-A4E3-BC4F-5D61-D9537B650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7686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B05409-15DB-5C89-F583-9959691FA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028998B-409D-8EF8-31D4-20AC3A09F2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DFF4D36-2E21-B58E-B957-16DB344DB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5FF49B5-BCF3-9D31-87D2-B0AECA76F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51523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3A80489-F2E0-4E66-1144-67CED0682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2BDD3B3-3529-6B03-10E9-CDE688E638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A013BF-D3DC-8DB9-668A-D0F0AB24A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03728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E4BF2C-429E-FE8C-A52B-EE44BF7035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C2779B0-F20D-DF60-79E8-3F692BA383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106C272-B463-97CB-FA9F-57CF469E7A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E066AE6-558C-D180-461E-71FB03FDE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685E0F3-CD80-C87B-4891-DB3E40CF7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E8553A0-4325-5A7A-8417-AE86967A8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3258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187A94-D41A-A03E-4124-EE90E1A5F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B3FB9E5-0B85-1FC9-5BC0-9E3BA3788F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3B148B5-2A36-5001-E445-1E5F5E0218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345572-88C2-9A4E-9D5E-E3C0F8D736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7C51CC2-B7D0-1FD9-1CF5-7068AF738A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73F6D4C-E0C1-1D03-DA67-B52C96421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35990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B410D1-7527-9458-4BA1-DEAB873E97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CDA429C-8CC0-5B7B-8BD6-DBC3C6D226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53CA92-1240-EE7A-49F1-9347E784B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4D98F2B-1833-E26F-DE98-6D91240BB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DE1AC5-6B22-8D65-7182-B6AD35CEF3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36989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E08FC70-F9E8-5184-67DB-FDFE630532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AD936DE-54D0-8CAB-65A3-5B60831CEE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62D6D99-FE5B-AC27-82E3-BFD1E91AA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A58D91D-896F-7130-677C-F5E714C73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9B2EE1E-0721-EB26-4D68-54D1A75B4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77621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2319448-528B-994F-4036-42D5BDCB1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09DCE75-C3F6-CC89-98A0-A1620E3657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86592C-33DF-B684-680D-0CC2A0D832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2F1745C-309A-B5A9-9B3D-5944846AF4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137BC9D-AA7B-3A90-AD82-3401408B1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32546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450638E-D0E1-2F43-E18C-A1D58BBEC3DB}"/>
              </a:ext>
            </a:extLst>
          </p:cNvPr>
          <p:cNvSpPr txBox="1"/>
          <p:nvPr/>
        </p:nvSpPr>
        <p:spPr>
          <a:xfrm>
            <a:off x="379512" y="299392"/>
            <a:ext cx="386449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5000">
                <a:solidFill>
                  <a:schemeClr val="bg1"/>
                </a:solidFill>
              </a:rPr>
              <a:t>프론트 프로젝트</a:t>
            </a:r>
            <a:endParaRPr lang="ko-KR" altLang="en-US" sz="65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29AEDA-5AC4-7027-7EC3-51FC869937F8}"/>
              </a:ext>
            </a:extLst>
          </p:cNvPr>
          <p:cNvSpPr txBox="1"/>
          <p:nvPr/>
        </p:nvSpPr>
        <p:spPr>
          <a:xfrm>
            <a:off x="10080783" y="4134000"/>
            <a:ext cx="863907" cy="2050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200" dirty="0">
                <a:solidFill>
                  <a:schemeClr val="bg1"/>
                </a:solidFill>
              </a:rPr>
              <a:t>이현겸</a:t>
            </a:r>
            <a:endParaRPr lang="en-US" altLang="ko-KR" sz="2200" dirty="0">
              <a:solidFill>
                <a:schemeClr val="bg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2200" dirty="0">
                <a:solidFill>
                  <a:schemeClr val="bg1"/>
                </a:solidFill>
              </a:rPr>
              <a:t>박세인</a:t>
            </a:r>
            <a:endParaRPr lang="en-US" altLang="ko-KR" sz="2200" dirty="0">
              <a:solidFill>
                <a:schemeClr val="bg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2200" dirty="0" err="1">
                <a:solidFill>
                  <a:schemeClr val="bg1"/>
                </a:solidFill>
              </a:rPr>
              <a:t>장해든</a:t>
            </a:r>
            <a:endParaRPr lang="en-US" altLang="ko-KR" sz="2200" dirty="0">
              <a:solidFill>
                <a:schemeClr val="bg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2200" dirty="0" err="1">
                <a:solidFill>
                  <a:schemeClr val="bg1"/>
                </a:solidFill>
              </a:rPr>
              <a:t>송주창</a:t>
            </a:r>
            <a:endParaRPr lang="ko-KR" altLang="en-US" sz="2200" dirty="0">
              <a:solidFill>
                <a:schemeClr val="bg1"/>
              </a:solidFill>
            </a:endParaRPr>
          </a:p>
        </p:txBody>
      </p:sp>
      <p:pic>
        <p:nvPicPr>
          <p:cNvPr id="1030" name="Picture 6" descr="Puma transparent white logo #1243 - Free Transparent PNG Logos">
            <a:extLst>
              <a:ext uri="{FF2B5EF4-FFF2-40B4-BE49-F238E27FC236}">
                <a16:creationId xmlns:a16="http://schemas.microsoft.com/office/drawing/2014/main" id="{CAB142F3-F8B6-86CE-6A58-603C8D9240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4481" y="1618820"/>
            <a:ext cx="6311436" cy="32625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06747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5FD4BC-7448-C5BA-E3F5-0A928309D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AD44E0E-248E-F659-8964-EACAA2203B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55574" y="1253331"/>
            <a:ext cx="7480852" cy="4351338"/>
          </a:xfrm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프로젝트 개요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구현 페이지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Indexl.html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Product.html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Detail.html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Cart.html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54504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4CFF2-9265-D439-1D9F-8436CE43D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B823F4-59B4-2B51-C8D0-322007CCA4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ko-KR" altLang="en-US" dirty="0"/>
              <a:t>프로젝트 개요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6A719AB2-D96B-9767-6499-C6FA17B61A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dirty="0"/>
              <a:t>HTML, CSS, JS</a:t>
            </a:r>
            <a:r>
              <a:rPr lang="ko-KR" altLang="en-US" dirty="0"/>
              <a:t>를 활용한 푸마 웹 페이지 구현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페이지 간 정보 주고 받기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 err="1"/>
              <a:t>Github</a:t>
            </a:r>
            <a:r>
              <a:rPr lang="ko-KR" altLang="en-US" dirty="0"/>
              <a:t>를 활용한 협업 기초 배우기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73BC5B-2702-C500-8D26-9CF60C2DA185}"/>
              </a:ext>
            </a:extLst>
          </p:cNvPr>
          <p:cNvSpPr txBox="1"/>
          <p:nvPr/>
        </p:nvSpPr>
        <p:spPr>
          <a:xfrm>
            <a:off x="449425" y="1108642"/>
            <a:ext cx="18227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프로젝트 목적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F711109-809D-EE0F-459A-23FC509213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6288" y="3429000"/>
            <a:ext cx="3216564" cy="3216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Flat Puma Icon - Flaticons.net">
            <a:extLst>
              <a:ext uri="{FF2B5EF4-FFF2-40B4-BE49-F238E27FC236}">
                <a16:creationId xmlns:a16="http://schemas.microsoft.com/office/drawing/2014/main" id="{D17AB52B-CF24-6FFF-9A20-613F7BEF85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9924" y="716858"/>
            <a:ext cx="2609292" cy="26092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03890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889EF-C643-8113-7DC0-044EEF20A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8ED196-4991-DF76-477D-81462A346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ko-KR" altLang="en-US" dirty="0"/>
              <a:t>프로젝트 개요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ACED77DC-E035-717A-14EE-B30DA42204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6506" y="1839072"/>
            <a:ext cx="11178988" cy="435133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dirty="0"/>
              <a:t>PC</a:t>
            </a:r>
            <a:r>
              <a:rPr lang="ko-KR" altLang="en-US" dirty="0"/>
              <a:t>에 설치하여 </a:t>
            </a:r>
            <a:r>
              <a:rPr lang="en-US" altLang="ko-KR" dirty="0"/>
              <a:t>GUI</a:t>
            </a:r>
            <a:r>
              <a:rPr lang="ko-KR" altLang="en-US" dirty="0"/>
              <a:t>로 사용이 손쉬운 </a:t>
            </a:r>
            <a:r>
              <a:rPr lang="en-US" altLang="ko-KR" dirty="0" err="1"/>
              <a:t>Github</a:t>
            </a:r>
            <a:r>
              <a:rPr lang="en-US" altLang="ko-KR" dirty="0"/>
              <a:t> </a:t>
            </a:r>
            <a:r>
              <a:rPr lang="ko-KR" altLang="en-US" dirty="0"/>
              <a:t>어플리케이션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같은 파일을 동시에 수정하면 충돌이 일어난다</a:t>
            </a:r>
            <a:r>
              <a:rPr lang="en-US" altLang="ko-KR" dirty="0"/>
              <a:t> (</a:t>
            </a:r>
            <a:r>
              <a:rPr lang="ko-KR" altLang="en-US" dirty="0"/>
              <a:t>충돌을 극도로 경계한다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 err="1"/>
              <a:t>레포지토리</a:t>
            </a:r>
            <a:r>
              <a:rPr lang="ko-KR" altLang="en-US" dirty="0"/>
              <a:t> 내에 개인 작업 공간</a:t>
            </a:r>
            <a:r>
              <a:rPr lang="en-US" altLang="ko-KR" dirty="0"/>
              <a:t> </a:t>
            </a:r>
            <a:r>
              <a:rPr lang="ko-KR" altLang="en-US" dirty="0"/>
              <a:t>및 규칙을 정의하여 충돌 배제 </a:t>
            </a:r>
            <a:r>
              <a:rPr lang="en-US" altLang="ko-KR" dirty="0"/>
              <a:t>/ </a:t>
            </a:r>
            <a:r>
              <a:rPr lang="ko-KR" altLang="en-US" dirty="0"/>
              <a:t>병합이 쉽도록 함</a:t>
            </a:r>
            <a:endParaRPr lang="en-US" altLang="ko-K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793D3B-EC25-B702-E0E3-657AB3C82C8E}"/>
              </a:ext>
            </a:extLst>
          </p:cNvPr>
          <p:cNvSpPr txBox="1"/>
          <p:nvPr/>
        </p:nvSpPr>
        <p:spPr>
          <a:xfrm>
            <a:off x="449425" y="1108642"/>
            <a:ext cx="35499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협업 도구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en-US" altLang="ko-KR" sz="2400" dirty="0" err="1">
                <a:solidFill>
                  <a:schemeClr val="bg1"/>
                </a:solidFill>
              </a:rPr>
              <a:t>Github</a:t>
            </a:r>
            <a:r>
              <a:rPr lang="en-US" altLang="ko-KR" sz="2400" dirty="0">
                <a:solidFill>
                  <a:schemeClr val="bg1"/>
                </a:solidFill>
              </a:rPr>
              <a:t> Desktop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626DEE3-92D8-C1B7-CA2A-E91C0CC61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90847" y="3898964"/>
            <a:ext cx="2762953" cy="2762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809698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F668A-0187-E8F2-293C-A4C7AE5C7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A53FBB-ADF8-341D-532A-36AB71C10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ko-KR" altLang="en-US" dirty="0"/>
              <a:t>설계 페이지</a:t>
            </a:r>
          </a:p>
        </p:txBody>
      </p:sp>
      <p:pic>
        <p:nvPicPr>
          <p:cNvPr id="7" name="그림 6" descr="신발류, 스크린샷, 하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E83F068-54DC-E7B5-69EB-A1B74D94B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614" y="1115882"/>
            <a:ext cx="3858499" cy="1814700"/>
          </a:xfrm>
          <a:prstGeom prst="rect">
            <a:avLst/>
          </a:prstGeom>
        </p:spPr>
      </p:pic>
      <p:pic>
        <p:nvPicPr>
          <p:cNvPr id="9" name="그림 8" descr="텍스트, 스크린샷, 의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458E3C6-5ABA-03D5-F894-6444B4E226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614" y="1516769"/>
            <a:ext cx="3858499" cy="1838816"/>
          </a:xfrm>
          <a:prstGeom prst="rect">
            <a:avLst/>
          </a:prstGeom>
        </p:spPr>
      </p:pic>
      <p:pic>
        <p:nvPicPr>
          <p:cNvPr id="11" name="그림 10" descr="텍스트, 의류, 스크린샷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FB5D6C9-3348-265C-06F2-013B919120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614" y="1941772"/>
            <a:ext cx="3858499" cy="1834796"/>
          </a:xfrm>
          <a:prstGeom prst="rect">
            <a:avLst/>
          </a:prstGeom>
        </p:spPr>
      </p:pic>
      <p:pic>
        <p:nvPicPr>
          <p:cNvPr id="13" name="그림 12" descr="텍스트, 스크린샷, 소프트웨어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34F8FBE-9658-F774-6F48-AF5F632871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615" y="2362756"/>
            <a:ext cx="3858500" cy="181068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603ADB6-CEB7-838F-296B-1400617D7C15}"/>
              </a:ext>
            </a:extLst>
          </p:cNvPr>
          <p:cNvSpPr txBox="1"/>
          <p:nvPr/>
        </p:nvSpPr>
        <p:spPr>
          <a:xfrm>
            <a:off x="5883565" y="4867564"/>
            <a:ext cx="489527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dirty="0">
                <a:solidFill>
                  <a:schemeClr val="bg1"/>
                </a:solidFill>
              </a:rPr>
              <a:t>메인 화면</a:t>
            </a:r>
            <a:r>
              <a:rPr lang="en-US" altLang="ko-KR" sz="3000" dirty="0">
                <a:solidFill>
                  <a:schemeClr val="bg1"/>
                </a:solidFill>
              </a:rPr>
              <a:t>(index.html) - </a:t>
            </a:r>
            <a:r>
              <a:rPr lang="ko-KR" altLang="en-US" sz="3000" dirty="0">
                <a:solidFill>
                  <a:schemeClr val="bg1"/>
                </a:solidFill>
              </a:rPr>
              <a:t>박세인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7E979CA-8046-376F-3507-A102E1A49BA3}"/>
              </a:ext>
            </a:extLst>
          </p:cNvPr>
          <p:cNvSpPr txBox="1"/>
          <p:nvPr/>
        </p:nvSpPr>
        <p:spPr>
          <a:xfrm>
            <a:off x="5438714" y="4867564"/>
            <a:ext cx="578497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dirty="0">
                <a:solidFill>
                  <a:schemeClr val="bg1"/>
                </a:solidFill>
              </a:rPr>
              <a:t>신상품 화면</a:t>
            </a:r>
            <a:r>
              <a:rPr lang="en-US" altLang="ko-KR" sz="3000" dirty="0">
                <a:solidFill>
                  <a:schemeClr val="bg1"/>
                </a:solidFill>
              </a:rPr>
              <a:t>(product.html) - </a:t>
            </a:r>
            <a:r>
              <a:rPr lang="ko-KR" altLang="en-US" sz="3000" dirty="0" err="1">
                <a:solidFill>
                  <a:schemeClr val="bg1"/>
                </a:solidFill>
              </a:rPr>
              <a:t>장해든</a:t>
            </a:r>
            <a:endParaRPr lang="ko-KR" altLang="en-US" sz="3000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8E2D9A8-5BC5-35D0-5FB2-EDECAE628F72}"/>
              </a:ext>
            </a:extLst>
          </p:cNvPr>
          <p:cNvSpPr txBox="1"/>
          <p:nvPr/>
        </p:nvSpPr>
        <p:spPr>
          <a:xfrm>
            <a:off x="5438714" y="4883536"/>
            <a:ext cx="578497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dirty="0">
                <a:solidFill>
                  <a:schemeClr val="bg1"/>
                </a:solidFill>
              </a:rPr>
              <a:t>상품 상세 화면</a:t>
            </a:r>
            <a:r>
              <a:rPr lang="en-US" altLang="ko-KR" sz="3000" dirty="0">
                <a:solidFill>
                  <a:schemeClr val="bg1"/>
                </a:solidFill>
              </a:rPr>
              <a:t>(detail.html) - </a:t>
            </a:r>
            <a:r>
              <a:rPr lang="ko-KR" altLang="en-US" sz="3000" dirty="0">
                <a:solidFill>
                  <a:schemeClr val="bg1"/>
                </a:solidFill>
              </a:rPr>
              <a:t>이현겸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759E8AD-108F-B50D-B225-1973CE776B48}"/>
              </a:ext>
            </a:extLst>
          </p:cNvPr>
          <p:cNvSpPr txBox="1"/>
          <p:nvPr/>
        </p:nvSpPr>
        <p:spPr>
          <a:xfrm>
            <a:off x="5438714" y="4848515"/>
            <a:ext cx="578497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dirty="0">
                <a:solidFill>
                  <a:schemeClr val="bg1"/>
                </a:solidFill>
              </a:rPr>
              <a:t>장바구니 화면</a:t>
            </a:r>
            <a:r>
              <a:rPr lang="en-US" altLang="ko-KR" sz="3000" dirty="0">
                <a:solidFill>
                  <a:schemeClr val="bg1"/>
                </a:solidFill>
              </a:rPr>
              <a:t>(cart.html) - </a:t>
            </a:r>
            <a:r>
              <a:rPr lang="ko-KR" altLang="en-US" sz="3000" dirty="0" err="1">
                <a:solidFill>
                  <a:schemeClr val="bg1"/>
                </a:solidFill>
              </a:rPr>
              <a:t>송주창</a:t>
            </a:r>
            <a:endParaRPr lang="ko-KR" altLang="en-US" sz="3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705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10000" decel="62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2.59259E-6 L 0.49648 0.19097 " pathEditMode="relative" rAng="0" ptsTypes="AA">
                                      <p:cBhvr>
                                        <p:cTn id="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818" y="9537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decel="49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8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8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8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2" presetClass="path" presetSubtype="0" accel="13000" decel="64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-2.59259E-6 L 0.49414 0.13357 " pathEditMode="relative" rAng="0" ptsTypes="AA">
                                      <p:cBhvr>
                                        <p:cTn id="1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701" y="6667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4" dur="1000" fill="hold"/>
                                        <p:tgtEl>
                                          <p:spTgt spid="9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8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8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8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path" presetSubtype="0" accel="21000" decel="62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1.85185E-6 L 0.49609 0.06898 " pathEditMode="relative" rAng="0" ptsTypes="AA">
                                      <p:cBhvr>
                                        <p:cTn id="3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805" y="3449"/>
                                    </p:animMotion>
                                  </p:childTnLst>
                                </p:cTn>
                              </p:par>
                              <p:par>
                                <p:cTn id="39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5" dur="1000" fill="hold"/>
                                        <p:tgtEl>
                                          <p:spTgt spid="11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8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8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8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5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42" presetClass="path" presetSubtype="0" accel="13000" decel="67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1.11111E-6 L 0.49687 0.01227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844" y="602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1" dur="1000" fill="hold"/>
                                        <p:tgtEl>
                                          <p:spTgt spid="13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62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3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6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9" dur="8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8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8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73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7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4" grpId="1"/>
      <p:bldP spid="15" grpId="0"/>
      <p:bldP spid="15" grpId="1"/>
      <p:bldP spid="16" grpId="0"/>
      <p:bldP spid="16" grpId="1"/>
      <p:bldP spid="1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5572D-E4EB-E08D-2597-4157E4D8E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394D1E-81B4-C30E-9FFB-266192390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2800671" cy="869691"/>
          </a:xfrm>
        </p:spPr>
        <p:txBody>
          <a:bodyPr/>
          <a:lstStyle/>
          <a:p>
            <a:r>
              <a:rPr lang="en-US" altLang="ko-KR" dirty="0"/>
              <a:t>index.html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43A03F-FAF2-8E60-346F-689C0C8FC986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8" name="그림 7" descr="스크린샷, 도표, 텍스트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409DB36-8B36-53A9-ED7E-F8D4A1FEC1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466" y="273326"/>
            <a:ext cx="4803067" cy="6311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71782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FD784-310D-3124-1221-1B70B0709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9A311E-8F87-20AD-02FF-934CBF87BC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index.html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B5D309-15C9-F69D-A8F4-89D2DB8DB666}"/>
              </a:ext>
            </a:extLst>
          </p:cNvPr>
          <p:cNvSpPr txBox="1"/>
          <p:nvPr/>
        </p:nvSpPr>
        <p:spPr>
          <a:xfrm>
            <a:off x="449424" y="1108642"/>
            <a:ext cx="28162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헤더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B00C41E-AE5E-7BA2-5892-324F3B3F08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241" y="2195442"/>
            <a:ext cx="11717518" cy="539583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D04B89C8-5629-6491-C836-094E23B30B9A}"/>
              </a:ext>
            </a:extLst>
          </p:cNvPr>
          <p:cNvSpPr/>
          <p:nvPr/>
        </p:nvSpPr>
        <p:spPr>
          <a:xfrm>
            <a:off x="424207" y="2266381"/>
            <a:ext cx="360000" cy="3600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96C6AE-4CFE-057C-1C63-91979B91C7D0}"/>
              </a:ext>
            </a:extLst>
          </p:cNvPr>
          <p:cNvSpPr txBox="1"/>
          <p:nvPr/>
        </p:nvSpPr>
        <p:spPr>
          <a:xfrm>
            <a:off x="350996" y="2002271"/>
            <a:ext cx="51668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b="1" dirty="0">
                <a:highlight>
                  <a:srgbClr val="FFFF00"/>
                </a:highlight>
              </a:rPr>
              <a:t>로고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E1911C1-BFA2-C443-DB0F-71C38BFAECE9}"/>
              </a:ext>
            </a:extLst>
          </p:cNvPr>
          <p:cNvSpPr/>
          <p:nvPr/>
        </p:nvSpPr>
        <p:spPr>
          <a:xfrm>
            <a:off x="895543" y="2285235"/>
            <a:ext cx="5400000" cy="35999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87AC92-1552-9AD3-3BBB-EFE9B84B7D8E}"/>
              </a:ext>
            </a:extLst>
          </p:cNvPr>
          <p:cNvSpPr txBox="1"/>
          <p:nvPr/>
        </p:nvSpPr>
        <p:spPr>
          <a:xfrm>
            <a:off x="3171559" y="1978333"/>
            <a:ext cx="636742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b="1" dirty="0">
                <a:highlight>
                  <a:srgbClr val="FFFF00"/>
                </a:highlight>
              </a:rPr>
              <a:t>nav</a:t>
            </a:r>
            <a:r>
              <a:rPr lang="ko-KR" altLang="en-US" sz="1300" b="1" dirty="0">
                <a:highlight>
                  <a:srgbClr val="FFFF00"/>
                </a:highlight>
              </a:rPr>
              <a:t>바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9F6525B-C585-8729-6860-FD1667AB8165}"/>
              </a:ext>
            </a:extLst>
          </p:cNvPr>
          <p:cNvSpPr/>
          <p:nvPr/>
        </p:nvSpPr>
        <p:spPr>
          <a:xfrm>
            <a:off x="9942603" y="2294659"/>
            <a:ext cx="1435550" cy="3600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C54EAAE-E6A9-792B-C4BB-0E0E91D0AB33}"/>
              </a:ext>
            </a:extLst>
          </p:cNvPr>
          <p:cNvSpPr/>
          <p:nvPr/>
        </p:nvSpPr>
        <p:spPr>
          <a:xfrm>
            <a:off x="11407794" y="2294659"/>
            <a:ext cx="180000" cy="3600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AEE5C2-16CF-F297-E833-CC191942358B}"/>
              </a:ext>
            </a:extLst>
          </p:cNvPr>
          <p:cNvSpPr txBox="1"/>
          <p:nvPr/>
        </p:nvSpPr>
        <p:spPr>
          <a:xfrm>
            <a:off x="10400026" y="2002271"/>
            <a:ext cx="71417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b="1" dirty="0" err="1">
                <a:highlight>
                  <a:srgbClr val="FFFF00"/>
                </a:highlight>
              </a:rPr>
              <a:t>검색바</a:t>
            </a:r>
            <a:endParaRPr lang="ko-KR" altLang="en-US" sz="1300" b="1" dirty="0">
              <a:highlight>
                <a:srgbClr val="FFFF00"/>
              </a:highlight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7E4B71-9559-944F-F4E5-14710818F453}"/>
              </a:ext>
            </a:extLst>
          </p:cNvPr>
          <p:cNvSpPr txBox="1"/>
          <p:nvPr/>
        </p:nvSpPr>
        <p:spPr>
          <a:xfrm>
            <a:off x="11125099" y="2002271"/>
            <a:ext cx="9253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b="1" dirty="0">
                <a:highlight>
                  <a:srgbClr val="FFFF00"/>
                </a:highlight>
              </a:rPr>
              <a:t>장바구니</a:t>
            </a: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B1358534-6A68-8524-B79B-F8BCAF2DB11D}"/>
              </a:ext>
            </a:extLst>
          </p:cNvPr>
          <p:cNvGrpSpPr/>
          <p:nvPr/>
        </p:nvGrpSpPr>
        <p:grpSpPr>
          <a:xfrm>
            <a:off x="1256692" y="2824818"/>
            <a:ext cx="2705573" cy="1828305"/>
            <a:chOff x="903998" y="1907700"/>
            <a:chExt cx="2705573" cy="1828305"/>
          </a:xfrm>
        </p:grpSpPr>
        <p:pic>
          <p:nvPicPr>
            <p:cNvPr id="14" name="그림 13" descr="텍스트, 폰트, 스크린샷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023A2FF8-74EE-59E2-6875-DF64A97948F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5350" y="1907700"/>
              <a:ext cx="2584221" cy="1224104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4865BD9-2EE9-0E0C-23AD-2BE832164452}"/>
                </a:ext>
              </a:extLst>
            </p:cNvPr>
            <p:cNvSpPr txBox="1"/>
            <p:nvPr/>
          </p:nvSpPr>
          <p:spPr>
            <a:xfrm>
              <a:off x="987475" y="3212785"/>
              <a:ext cx="213613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dirty="0">
                  <a:solidFill>
                    <a:schemeClr val="bg1"/>
                  </a:solidFill>
                </a:rPr>
                <a:t>화면 사이즈 줄이면 </a:t>
              </a:r>
              <a:endParaRPr lang="en-US" altLang="ko-KR" sz="1400" dirty="0">
                <a:solidFill>
                  <a:schemeClr val="bg1"/>
                </a:solidFill>
              </a:endParaRPr>
            </a:p>
            <a:p>
              <a:r>
                <a:rPr lang="ko-KR" altLang="en-US" sz="1400" dirty="0">
                  <a:solidFill>
                    <a:schemeClr val="bg1"/>
                  </a:solidFill>
                </a:rPr>
                <a:t>메뉴 간격</a:t>
              </a:r>
              <a:r>
                <a:rPr lang="en-US" altLang="ko-KR" sz="1400" dirty="0">
                  <a:solidFill>
                    <a:schemeClr val="bg1"/>
                  </a:solidFill>
                </a:rPr>
                <a:t>, </a:t>
              </a:r>
              <a:r>
                <a:rPr lang="ko-KR" altLang="en-US" sz="1400" dirty="0">
                  <a:solidFill>
                    <a:schemeClr val="bg1"/>
                  </a:solidFill>
                </a:rPr>
                <a:t>글씨가 줄어듦</a:t>
              </a:r>
              <a:endParaRPr lang="en-US" altLang="ko-KR" sz="1400" dirty="0">
                <a:solidFill>
                  <a:schemeClr val="bg1"/>
                </a:solidFill>
              </a:endParaRPr>
            </a:p>
          </p:txBody>
        </p:sp>
        <p:cxnSp>
          <p:nvCxnSpPr>
            <p:cNvPr id="16" name="연결선: 꺾임 15">
              <a:extLst>
                <a:ext uri="{FF2B5EF4-FFF2-40B4-BE49-F238E27FC236}">
                  <a16:creationId xmlns:a16="http://schemas.microsoft.com/office/drawing/2014/main" id="{06AF871B-44F8-D444-DE1A-BA3F0753367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765246" y="2859315"/>
              <a:ext cx="620244" cy="342740"/>
            </a:xfrm>
            <a:prstGeom prst="bentConnector4">
              <a:avLst>
                <a:gd name="adj1" fmla="val 32632"/>
                <a:gd name="adj2" fmla="val 166698"/>
              </a:avLst>
            </a:prstGeom>
            <a:ln>
              <a:tailEnd type="triangle"/>
            </a:ln>
          </p:spPr>
          <p:style>
            <a:lnRef idx="3">
              <a:schemeClr val="accent5"/>
            </a:lnRef>
            <a:fillRef idx="0">
              <a:schemeClr val="accent5"/>
            </a:fillRef>
            <a:effectRef idx="2">
              <a:schemeClr val="accent5"/>
            </a:effectRef>
            <a:fontRef idx="minor">
              <a:schemeClr val="tx1"/>
            </a:fontRef>
          </p:style>
        </p:cxn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A6365C5F-9CB1-AF4E-35D1-9949C28CAE3E}"/>
                </a:ext>
              </a:extLst>
            </p:cNvPr>
            <p:cNvSpPr/>
            <p:nvPr/>
          </p:nvSpPr>
          <p:spPr>
            <a:xfrm>
              <a:off x="1249394" y="2596796"/>
              <a:ext cx="2257378" cy="382793"/>
            </a:xfrm>
            <a:prstGeom prst="rect">
              <a:avLst/>
            </a:prstGeom>
            <a:noFill/>
            <a:ln>
              <a:solidFill>
                <a:srgbClr val="A02B9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n>
                  <a:solidFill>
                    <a:srgbClr val="A02B93"/>
                  </a:solidFill>
                </a:ln>
              </a:endParaRP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46E60022-D1FD-AD98-AA58-91106903620F}"/>
              </a:ext>
            </a:extLst>
          </p:cNvPr>
          <p:cNvGrpSpPr/>
          <p:nvPr/>
        </p:nvGrpSpPr>
        <p:grpSpPr>
          <a:xfrm>
            <a:off x="8280555" y="2657414"/>
            <a:ext cx="3674204" cy="1571288"/>
            <a:chOff x="8270960" y="1737541"/>
            <a:chExt cx="3674204" cy="1571288"/>
          </a:xfrm>
        </p:grpSpPr>
        <p:pic>
          <p:nvPicPr>
            <p:cNvPr id="19" name="그림 18" descr="텍스트, 폰트, 스크린샷, 라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9404E82F-E885-5D4F-45C3-542BF25BFC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22764" y="2613407"/>
              <a:ext cx="3622400" cy="695422"/>
            </a:xfrm>
            <a:prstGeom prst="rect">
              <a:avLst/>
            </a:prstGeom>
          </p:spPr>
        </p:pic>
        <p:cxnSp>
          <p:nvCxnSpPr>
            <p:cNvPr id="20" name="직선 화살표 연결선 19">
              <a:extLst>
                <a:ext uri="{FF2B5EF4-FFF2-40B4-BE49-F238E27FC236}">
                  <a16:creationId xmlns:a16="http://schemas.microsoft.com/office/drawing/2014/main" id="{4E194E52-14D8-6890-4896-A4FC8FD35F33}"/>
                </a:ext>
              </a:extLst>
            </p:cNvPr>
            <p:cNvCxnSpPr>
              <a:endCxn id="19" idx="0"/>
            </p:cNvCxnSpPr>
            <p:nvPr/>
          </p:nvCxnSpPr>
          <p:spPr>
            <a:xfrm flipH="1">
              <a:off x="10133964" y="1737541"/>
              <a:ext cx="1363830" cy="87586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5"/>
            </a:lnRef>
            <a:fillRef idx="0">
              <a:schemeClr val="accent5"/>
            </a:fillRef>
            <a:effectRef idx="2">
              <a:schemeClr val="accent5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D9D8088-BAC8-405C-CBB6-9494BB1F5569}"/>
                </a:ext>
              </a:extLst>
            </p:cNvPr>
            <p:cNvSpPr txBox="1"/>
            <p:nvPr/>
          </p:nvSpPr>
          <p:spPr>
            <a:xfrm>
              <a:off x="8270960" y="2161795"/>
              <a:ext cx="231986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>
                  <a:solidFill>
                    <a:schemeClr val="bg1"/>
                  </a:solidFill>
                </a:rPr>
                <a:t>아이콘 클릭 시 </a:t>
              </a:r>
              <a:r>
                <a:rPr lang="en-US" altLang="ko-KR" sz="1400" dirty="0">
                  <a:solidFill>
                    <a:schemeClr val="bg1"/>
                  </a:solidFill>
                </a:rPr>
                <a:t>cart.html</a:t>
              </a:r>
              <a:r>
                <a:rPr lang="ko-KR" altLang="en-US" sz="1400" dirty="0">
                  <a:solidFill>
                    <a:schemeClr val="bg1"/>
                  </a:solidFill>
                </a:rPr>
                <a:t>로 이동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20224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60652-A485-CF19-5232-935DD7702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555C11-FE62-25D5-DBDC-B2D218228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index.html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C8AA4D-5053-9553-57F1-D7CB01DE61AB}"/>
              </a:ext>
            </a:extLst>
          </p:cNvPr>
          <p:cNvSpPr txBox="1"/>
          <p:nvPr/>
        </p:nvSpPr>
        <p:spPr>
          <a:xfrm>
            <a:off x="449424" y="1108642"/>
            <a:ext cx="28162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헤더</a:t>
            </a: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B69C3C56-59F4-A9DA-D123-052D9BE8C3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241" y="1978333"/>
            <a:ext cx="11717518" cy="1429052"/>
          </a:xfrm>
          <a:prstGeom prst="rect">
            <a:avLst/>
          </a:prstGeom>
        </p:spPr>
      </p:pic>
      <p:pic>
        <p:nvPicPr>
          <p:cNvPr id="23" name="그림 2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6C12634-53CC-E0F3-C816-F8F63A8CE7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0918" y="3535601"/>
            <a:ext cx="2190161" cy="200249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25017556-1956-B3E7-4BCE-0B23F851B141}"/>
              </a:ext>
            </a:extLst>
          </p:cNvPr>
          <p:cNvSpPr txBox="1"/>
          <p:nvPr/>
        </p:nvSpPr>
        <p:spPr>
          <a:xfrm>
            <a:off x="1309562" y="3941912"/>
            <a:ext cx="31903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</a:rPr>
              <a:t>메뉴에 마우스 </a:t>
            </a:r>
            <a:r>
              <a:rPr lang="en-US" altLang="ko-KR" sz="1400" dirty="0">
                <a:solidFill>
                  <a:schemeClr val="bg1"/>
                </a:solidFill>
              </a:rPr>
              <a:t>hover </a:t>
            </a:r>
            <a:r>
              <a:rPr lang="ko-KR" altLang="en-US" sz="1400" dirty="0">
                <a:solidFill>
                  <a:schemeClr val="bg1"/>
                </a:solidFill>
              </a:rPr>
              <a:t>시 드롭다운 메뉴 표시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16B0E485-436B-7AD2-1DC1-3515693A0C1E}"/>
              </a:ext>
            </a:extLst>
          </p:cNvPr>
          <p:cNvSpPr/>
          <p:nvPr/>
        </p:nvSpPr>
        <p:spPr>
          <a:xfrm>
            <a:off x="6228454" y="4754223"/>
            <a:ext cx="1236188" cy="338977"/>
          </a:xfrm>
          <a:prstGeom prst="rect">
            <a:avLst/>
          </a:prstGeom>
          <a:noFill/>
          <a:ln>
            <a:solidFill>
              <a:srgbClr val="A02B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A02B93"/>
                </a:solidFill>
              </a:ln>
            </a:endParaRPr>
          </a:p>
        </p:txBody>
      </p:sp>
      <p:pic>
        <p:nvPicPr>
          <p:cNvPr id="26" name="그림 25" descr="텍스트, 폰트, 스크린샷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630C99D-92B9-47FF-C408-1EC0CC3560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8615" y="3536309"/>
            <a:ext cx="1952898" cy="73352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64EC029E-E98C-B70D-EEBF-E192DA9AA8C4}"/>
              </a:ext>
            </a:extLst>
          </p:cNvPr>
          <p:cNvSpPr txBox="1"/>
          <p:nvPr/>
        </p:nvSpPr>
        <p:spPr>
          <a:xfrm>
            <a:off x="8369580" y="4409833"/>
            <a:ext cx="29234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</a:rPr>
              <a:t>Opacity</a:t>
            </a:r>
            <a:r>
              <a:rPr lang="ko-KR" altLang="en-US" sz="1400" dirty="0">
                <a:solidFill>
                  <a:schemeClr val="bg1"/>
                </a:solidFill>
              </a:rPr>
              <a:t>와 </a:t>
            </a:r>
            <a:r>
              <a:rPr lang="en-US" altLang="ko-KR" sz="1400" dirty="0">
                <a:solidFill>
                  <a:schemeClr val="bg1"/>
                </a:solidFill>
              </a:rPr>
              <a:t>hidden</a:t>
            </a:r>
            <a:r>
              <a:rPr lang="ko-KR" altLang="en-US" sz="1400" dirty="0">
                <a:solidFill>
                  <a:schemeClr val="bg1"/>
                </a:solidFill>
              </a:rPr>
              <a:t>으로 보이지 않게 해두고</a:t>
            </a:r>
            <a:endParaRPr lang="en-US" altLang="ko-KR" sz="1400" dirty="0">
              <a:solidFill>
                <a:schemeClr val="bg1"/>
              </a:solidFill>
            </a:endParaRPr>
          </a:p>
          <a:p>
            <a:r>
              <a:rPr lang="ko-KR" altLang="en-US" sz="1400" dirty="0">
                <a:solidFill>
                  <a:schemeClr val="bg1"/>
                </a:solidFill>
              </a:rPr>
              <a:t>마우스 </a:t>
            </a:r>
            <a:r>
              <a:rPr lang="en-US" altLang="ko-KR" sz="1400" dirty="0">
                <a:solidFill>
                  <a:schemeClr val="bg1"/>
                </a:solidFill>
              </a:rPr>
              <a:t>hover </a:t>
            </a:r>
            <a:r>
              <a:rPr lang="ko-KR" altLang="en-US" sz="1400" dirty="0">
                <a:solidFill>
                  <a:schemeClr val="bg1"/>
                </a:solidFill>
              </a:rPr>
              <a:t>시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ko-KR" altLang="en-US" sz="1400" dirty="0">
                <a:solidFill>
                  <a:schemeClr val="bg1"/>
                </a:solidFill>
              </a:rPr>
              <a:t>보이도록 함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A5F34B35-0447-612B-ED99-99FE99227766}"/>
              </a:ext>
            </a:extLst>
          </p:cNvPr>
          <p:cNvSpPr/>
          <p:nvPr/>
        </p:nvSpPr>
        <p:spPr>
          <a:xfrm>
            <a:off x="237240" y="2512860"/>
            <a:ext cx="11717517" cy="88274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745C432E-242C-F02D-B329-B53731F17A6A}"/>
              </a:ext>
            </a:extLst>
          </p:cNvPr>
          <p:cNvCxnSpPr>
            <a:cxnSpLocks/>
            <a:endCxn id="24" idx="0"/>
          </p:cNvCxnSpPr>
          <p:nvPr/>
        </p:nvCxnSpPr>
        <p:spPr>
          <a:xfrm>
            <a:off x="2904722" y="3429000"/>
            <a:ext cx="1" cy="51291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63637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D8E2D-D605-686C-0C58-A71777DCC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78786A-5814-0793-7702-0E389B76CC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index.html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575666-1539-1CA3-588D-F32A5EC6415B}"/>
              </a:ext>
            </a:extLst>
          </p:cNvPr>
          <p:cNvSpPr txBox="1"/>
          <p:nvPr/>
        </p:nvSpPr>
        <p:spPr>
          <a:xfrm>
            <a:off x="449424" y="1108642"/>
            <a:ext cx="28162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메인 컨텐츠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pic>
        <p:nvPicPr>
          <p:cNvPr id="4" name="그림 3" descr="의류, 여성, 콜라주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11FCCCA-231E-ED45-3C99-F0023EEA24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544166"/>
            <a:ext cx="5837492" cy="2199813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51977981-8770-87E8-0D14-43DDCBBEEAE2}"/>
              </a:ext>
            </a:extLst>
          </p:cNvPr>
          <p:cNvGrpSpPr/>
          <p:nvPr/>
        </p:nvGrpSpPr>
        <p:grpSpPr>
          <a:xfrm>
            <a:off x="347721" y="1644073"/>
            <a:ext cx="4221602" cy="4566226"/>
            <a:chOff x="347720" y="1052974"/>
            <a:chExt cx="5218133" cy="5667375"/>
          </a:xfrm>
        </p:grpSpPr>
        <p:pic>
          <p:nvPicPr>
            <p:cNvPr id="7" name="그림 6" descr="스크린샷, 의류, 신발류, 콜라주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310F397F-0273-153D-462D-41638FE86D3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95670" y="1052974"/>
              <a:ext cx="2570183" cy="5667375"/>
            </a:xfrm>
            <a:prstGeom prst="rect">
              <a:avLst/>
            </a:prstGeom>
          </p:spPr>
        </p:pic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A5947886-4543-EDB2-B698-7B750E32FCAA}"/>
                </a:ext>
              </a:extLst>
            </p:cNvPr>
            <p:cNvGrpSpPr/>
            <p:nvPr/>
          </p:nvGrpSpPr>
          <p:grpSpPr>
            <a:xfrm>
              <a:off x="347720" y="1052974"/>
              <a:ext cx="3310404" cy="5667375"/>
              <a:chOff x="347720" y="1052974"/>
              <a:chExt cx="3310404" cy="5667375"/>
            </a:xfrm>
          </p:grpSpPr>
          <p:pic>
            <p:nvPicPr>
              <p:cNvPr id="9" name="그림 8" descr="스크린샷, 스포츠, 텍스트, 콜라주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A4FBE341-A840-99FA-EC79-F409B7FFCD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7720" y="1052974"/>
                <a:ext cx="2432153" cy="5667375"/>
              </a:xfrm>
              <a:prstGeom prst="rect">
                <a:avLst/>
              </a:prstGeom>
            </p:spPr>
          </p:pic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D15EE909-1434-9449-BA46-10002D9BDCA3}"/>
                  </a:ext>
                </a:extLst>
              </p:cNvPr>
              <p:cNvSpPr/>
              <p:nvPr/>
            </p:nvSpPr>
            <p:spPr>
              <a:xfrm>
                <a:off x="1104900" y="6048375"/>
                <a:ext cx="466725" cy="671974"/>
              </a:xfrm>
              <a:prstGeom prst="rect">
                <a:avLst/>
              </a:prstGeom>
              <a:noFill/>
              <a:ln>
                <a:solidFill>
                  <a:srgbClr val="A02B9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n>
                    <a:solidFill>
                      <a:srgbClr val="A02B93"/>
                    </a:solidFill>
                  </a:ln>
                  <a:noFill/>
                </a:endParaRPr>
              </a:p>
            </p:txBody>
          </p:sp>
          <p:cxnSp>
            <p:nvCxnSpPr>
              <p:cNvPr id="11" name="직선 화살표 연결선 10">
                <a:extLst>
                  <a:ext uri="{FF2B5EF4-FFF2-40B4-BE49-F238E27FC236}">
                    <a16:creationId xmlns:a16="http://schemas.microsoft.com/office/drawing/2014/main" id="{2521EB55-4A4E-E892-1514-00062E472B08}"/>
                  </a:ext>
                </a:extLst>
              </p:cNvPr>
              <p:cNvCxnSpPr>
                <a:stCxn id="10" idx="3"/>
              </p:cNvCxnSpPr>
              <p:nvPr/>
            </p:nvCxnSpPr>
            <p:spPr>
              <a:xfrm flipV="1">
                <a:off x="1571625" y="5905500"/>
                <a:ext cx="504825" cy="47886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F08AEAF-122E-2169-7A7E-B7BB07143EB8}"/>
                  </a:ext>
                </a:extLst>
              </p:cNvPr>
              <p:cNvSpPr txBox="1"/>
              <p:nvPr/>
            </p:nvSpPr>
            <p:spPr>
              <a:xfrm>
                <a:off x="1934421" y="5622295"/>
                <a:ext cx="1723703" cy="273895"/>
              </a:xfrm>
              <a:prstGeom prst="rect">
                <a:avLst/>
              </a:prstGeom>
              <a:solidFill>
                <a:srgbClr val="FFFF00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900" b="1" dirty="0"/>
                  <a:t>클릭 시 </a:t>
                </a:r>
                <a:r>
                  <a:rPr lang="en-US" altLang="ko-KR" sz="900" b="1" dirty="0"/>
                  <a:t>detail.html</a:t>
                </a:r>
                <a:r>
                  <a:rPr lang="ko-KR" altLang="en-US" sz="900" b="1" dirty="0"/>
                  <a:t>로 이동</a:t>
                </a:r>
              </a:p>
            </p:txBody>
          </p:sp>
        </p:grp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26B50D48-68DA-9AAE-CE04-4F09FF46499E}"/>
              </a:ext>
            </a:extLst>
          </p:cNvPr>
          <p:cNvSpPr txBox="1"/>
          <p:nvPr/>
        </p:nvSpPr>
        <p:spPr>
          <a:xfrm>
            <a:off x="5138767" y="5303847"/>
            <a:ext cx="22952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solidFill>
                  <a:schemeClr val="bg1"/>
                </a:solidFill>
              </a:rPr>
              <a:t>cloneNode</a:t>
            </a:r>
            <a:r>
              <a:rPr lang="en-US" altLang="ko-KR" sz="1400" dirty="0">
                <a:solidFill>
                  <a:schemeClr val="bg1"/>
                </a:solidFill>
              </a:rPr>
              <a:t>()</a:t>
            </a:r>
            <a:r>
              <a:rPr lang="ko-KR" altLang="en-US" sz="1400" dirty="0">
                <a:solidFill>
                  <a:schemeClr val="bg1"/>
                </a:solidFill>
              </a:rPr>
              <a:t>로 앞뒤에 카드 복제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EDB94C-E985-8A63-3B24-FB63AADC0CFC}"/>
              </a:ext>
            </a:extLst>
          </p:cNvPr>
          <p:cNvSpPr txBox="1"/>
          <p:nvPr/>
        </p:nvSpPr>
        <p:spPr>
          <a:xfrm>
            <a:off x="5329981" y="2619508"/>
            <a:ext cx="8563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highlight>
                  <a:srgbClr val="FFFF00"/>
                </a:highlight>
              </a:rPr>
              <a:t>주요 </a:t>
            </a:r>
            <a:r>
              <a:rPr lang="en-US" altLang="ko-KR" sz="1200" dirty="0" err="1">
                <a:highlight>
                  <a:srgbClr val="FFFF00"/>
                </a:highlight>
              </a:rPr>
              <a:t>js</a:t>
            </a:r>
            <a:r>
              <a:rPr lang="en-US" altLang="ko-KR" sz="1200" dirty="0">
                <a:highlight>
                  <a:srgbClr val="FFFF00"/>
                </a:highlight>
              </a:rPr>
              <a:t> </a:t>
            </a:r>
            <a:r>
              <a:rPr lang="ko-KR" altLang="en-US" sz="1200" dirty="0">
                <a:highlight>
                  <a:srgbClr val="FFFF00"/>
                </a:highlight>
              </a:rPr>
              <a:t>코드</a:t>
            </a:r>
          </a:p>
        </p:txBody>
      </p:sp>
      <p:cxnSp>
        <p:nvCxnSpPr>
          <p:cNvPr id="15" name="연결선: 꺾임 14">
            <a:extLst>
              <a:ext uri="{FF2B5EF4-FFF2-40B4-BE49-F238E27FC236}">
                <a16:creationId xmlns:a16="http://schemas.microsoft.com/office/drawing/2014/main" id="{CC738A6B-D5B9-D2D8-F6D5-9400995ADD00}"/>
              </a:ext>
            </a:extLst>
          </p:cNvPr>
          <p:cNvCxnSpPr>
            <a:stCxn id="4" idx="1"/>
            <a:endCxn id="14" idx="0"/>
          </p:cNvCxnSpPr>
          <p:nvPr/>
        </p:nvCxnSpPr>
        <p:spPr>
          <a:xfrm rot="10800000" flipV="1">
            <a:off x="5758144" y="1644072"/>
            <a:ext cx="337856" cy="97543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764635B9-B2D9-18CF-D6EC-095A4C1AF5FF}"/>
              </a:ext>
            </a:extLst>
          </p:cNvPr>
          <p:cNvGrpSpPr/>
          <p:nvPr/>
        </p:nvGrpSpPr>
        <p:grpSpPr>
          <a:xfrm>
            <a:off x="5237692" y="2896508"/>
            <a:ext cx="6629126" cy="2104776"/>
            <a:chOff x="5369534" y="2668139"/>
            <a:chExt cx="6781756" cy="2210754"/>
          </a:xfrm>
        </p:grpSpPr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F786B31A-01A6-304C-7C80-EEE3CFC8BC94}"/>
                </a:ext>
              </a:extLst>
            </p:cNvPr>
            <p:cNvGrpSpPr/>
            <p:nvPr/>
          </p:nvGrpSpPr>
          <p:grpSpPr>
            <a:xfrm>
              <a:off x="5369534" y="2668139"/>
              <a:ext cx="4463723" cy="2199814"/>
              <a:chOff x="5369534" y="2668139"/>
              <a:chExt cx="4463723" cy="2199814"/>
            </a:xfrm>
          </p:grpSpPr>
          <p:pic>
            <p:nvPicPr>
              <p:cNvPr id="19" name="그림 18" descr="텍스트, 스크린샷, 소프트웨어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7BB409F3-0145-C5EC-BA79-B1121F1E418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369534" y="2668140"/>
                <a:ext cx="2145691" cy="2199813"/>
              </a:xfrm>
              <a:prstGeom prst="rect">
                <a:avLst/>
              </a:prstGeom>
            </p:spPr>
          </p:pic>
          <p:pic>
            <p:nvPicPr>
              <p:cNvPr id="20" name="그림 19" descr="텍스트, 스크린샷, 소프트웨어, 폰트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14416486-26A0-8076-C406-5599644C13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595167" y="2668139"/>
                <a:ext cx="2238090" cy="2199813"/>
              </a:xfrm>
              <a:prstGeom prst="rect">
                <a:avLst/>
              </a:prstGeom>
            </p:spPr>
          </p:pic>
        </p:grpSp>
        <p:pic>
          <p:nvPicPr>
            <p:cNvPr id="18" name="그림 17" descr="텍스트, 스크린샷, 폰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F00639CA-9FC5-4281-562C-831092E37F2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913200" y="2679081"/>
              <a:ext cx="2238090" cy="2199812"/>
            </a:xfrm>
            <a:prstGeom prst="rect">
              <a:avLst/>
            </a:prstGeom>
          </p:spPr>
        </p:pic>
      </p:grp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178F27B4-33C3-65F1-B6F3-7C0C33BC8B82}"/>
              </a:ext>
            </a:extLst>
          </p:cNvPr>
          <p:cNvCxnSpPr>
            <a:cxnSpLocks/>
          </p:cNvCxnSpPr>
          <p:nvPr/>
        </p:nvCxnSpPr>
        <p:spPr>
          <a:xfrm flipV="1">
            <a:off x="9409367" y="614022"/>
            <a:ext cx="1177566" cy="4239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5B66B33-E7A4-D7F5-6789-095788ABB4AE}"/>
              </a:ext>
            </a:extLst>
          </p:cNvPr>
          <p:cNvSpPr txBox="1"/>
          <p:nvPr/>
        </p:nvSpPr>
        <p:spPr>
          <a:xfrm>
            <a:off x="9409367" y="352412"/>
            <a:ext cx="195919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>
                <a:highlight>
                  <a:srgbClr val="FFFF00"/>
                </a:highlight>
              </a:rPr>
              <a:t>Mouse hover </a:t>
            </a:r>
            <a:r>
              <a:rPr lang="ko-KR" altLang="en-US" sz="1100" dirty="0">
                <a:highlight>
                  <a:srgbClr val="FFFF00"/>
                </a:highlight>
              </a:rPr>
              <a:t>시 화살표 버튼 표시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54DDD2F-61E5-D8B8-C6F5-12AE5F527E19}"/>
              </a:ext>
            </a:extLst>
          </p:cNvPr>
          <p:cNvSpPr txBox="1"/>
          <p:nvPr/>
        </p:nvSpPr>
        <p:spPr>
          <a:xfrm>
            <a:off x="7208020" y="5670662"/>
            <a:ext cx="25981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 err="1">
                <a:solidFill>
                  <a:schemeClr val="bg1"/>
                </a:solidFill>
              </a:rPr>
              <a:t>transitionend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ko-KR" altLang="en-US" sz="1400" dirty="0">
                <a:solidFill>
                  <a:schemeClr val="bg1"/>
                </a:solidFill>
              </a:rPr>
              <a:t>이벤트를 활용한 순환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4DDC029-F1EA-D1BD-12E2-7D99B18B6A6B}"/>
              </a:ext>
            </a:extLst>
          </p:cNvPr>
          <p:cNvSpPr txBox="1"/>
          <p:nvPr/>
        </p:nvSpPr>
        <p:spPr>
          <a:xfrm>
            <a:off x="9945004" y="5978439"/>
            <a:ext cx="16559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chemeClr val="bg1"/>
                </a:solidFill>
              </a:rPr>
              <a:t>슬라이드 애니메이션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96FA92C3-55EC-74B2-A7FF-E5B7B0612AE1}"/>
              </a:ext>
            </a:extLst>
          </p:cNvPr>
          <p:cNvCxnSpPr>
            <a:cxnSpLocks/>
            <a:stCxn id="19" idx="2"/>
            <a:endCxn id="13" idx="0"/>
          </p:cNvCxnSpPr>
          <p:nvPr/>
        </p:nvCxnSpPr>
        <p:spPr>
          <a:xfrm>
            <a:off x="6286392" y="4990868"/>
            <a:ext cx="0" cy="31297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0A18487-B88D-2817-5B6C-6989BE7FF5BF}"/>
              </a:ext>
            </a:extLst>
          </p:cNvPr>
          <p:cNvCxnSpPr>
            <a:cxnSpLocks/>
            <a:stCxn id="20" idx="2"/>
            <a:endCxn id="23" idx="0"/>
          </p:cNvCxnSpPr>
          <p:nvPr/>
        </p:nvCxnSpPr>
        <p:spPr>
          <a:xfrm>
            <a:off x="8507095" y="4990867"/>
            <a:ext cx="0" cy="67979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A67BF705-F730-6BC8-44CE-EEF03D207CC3}"/>
              </a:ext>
            </a:extLst>
          </p:cNvPr>
          <p:cNvCxnSpPr>
            <a:cxnSpLocks/>
            <a:stCxn id="18" idx="2"/>
            <a:endCxn id="24" idx="0"/>
          </p:cNvCxnSpPr>
          <p:nvPr/>
        </p:nvCxnSpPr>
        <p:spPr>
          <a:xfrm>
            <a:off x="10772958" y="5001284"/>
            <a:ext cx="0" cy="97715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58534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56887-9CDA-1202-3589-2A430C5CEF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9D602C-D16F-52BE-B9A0-7D10C3E85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index.html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722882-0882-7F62-A375-08F978117C88}"/>
              </a:ext>
            </a:extLst>
          </p:cNvPr>
          <p:cNvSpPr txBox="1"/>
          <p:nvPr/>
        </p:nvSpPr>
        <p:spPr>
          <a:xfrm>
            <a:off x="449424" y="1108642"/>
            <a:ext cx="28162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 err="1">
                <a:solidFill>
                  <a:schemeClr val="bg1"/>
                </a:solidFill>
              </a:rPr>
              <a:t>푸터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pic>
        <p:nvPicPr>
          <p:cNvPr id="3" name="그림 2" descr="텍스트, 스크린샷, 소프트웨어, 웹사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9082967-B7C0-8164-92C0-7FEA316386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1684" y="1570307"/>
            <a:ext cx="6648632" cy="4971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05030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631B25-8F8F-E9EE-8051-131E7991D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48D7AE-3E72-C792-6FA0-076B5B612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product.html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447252-4D3A-2CB3-C202-C9576DBB59E0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7" name="그림 6" descr="텍스트, 스크린샷, 도표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1CBF708-E71D-364D-2C61-601E2BDB0D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3897" y="305555"/>
            <a:ext cx="4804206" cy="6246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5952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F3803-DE43-B467-EEAE-3D4247686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D443C7-0686-7DE3-7439-C7FC959BF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product.html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9F6B62-16AE-78DB-BD81-DA19C63B0AEF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4" name="그림 3" descr="텍스트, 도표, 친필, 평면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649400B-3330-F737-C68D-A800E127D0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1498" y="308113"/>
            <a:ext cx="4809003" cy="6241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3433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8E9CE-D8F1-D631-C237-1A45AB0B0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D594E4-B32F-7C2E-5F53-A4FD2191D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product.html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EF7D88-7368-82AB-BD54-C86D041C0E80}"/>
              </a:ext>
            </a:extLst>
          </p:cNvPr>
          <p:cNvSpPr txBox="1"/>
          <p:nvPr/>
        </p:nvSpPr>
        <p:spPr>
          <a:xfrm>
            <a:off x="449424" y="1108642"/>
            <a:ext cx="25945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98128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77EB7-B078-C6E6-3840-C72FE3C1C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8FDF14-1B70-8388-7691-7DE9DDC275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0DEEAC-413F-14B0-28A0-A466DAFBECA5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3" name="그림 2" descr="텍스트, 스크린샷, 소프트웨어, 웹 페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17A6F78-7252-B439-4324-E1A63E6743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38" b="69248"/>
          <a:stretch>
            <a:fillRect/>
          </a:stretch>
        </p:blipFill>
        <p:spPr>
          <a:xfrm>
            <a:off x="3101009" y="651013"/>
            <a:ext cx="6136952" cy="5555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964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49C31-8233-C23C-CFE0-99DCAFE02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290C7C-6851-3A37-1756-317F93B40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3591DB-2B78-512D-7549-967581B6683F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4" name="그림 3" descr="텍스트, 스크린샷, 소프트웨어, 웹 페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ED39CD-2E76-8266-67A6-AAEF44CD55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23" t="50000" r="4694" b="17229"/>
          <a:stretch>
            <a:fillRect/>
          </a:stretch>
        </p:blipFill>
        <p:spPr>
          <a:xfrm>
            <a:off x="3269974" y="459139"/>
            <a:ext cx="5784574" cy="6152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1400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001B1-25B9-7E29-86E7-5EF0D5A4E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E30E83-8407-2254-5794-4249E36883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AC6DF7-E248-BC42-8544-89CE6ADB84B0}"/>
              </a:ext>
            </a:extLst>
          </p:cNvPr>
          <p:cNvSpPr txBox="1"/>
          <p:nvPr/>
        </p:nvSpPr>
        <p:spPr>
          <a:xfrm>
            <a:off x="449424" y="1108642"/>
            <a:ext cx="54580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객체를 이용한 </a:t>
            </a:r>
            <a:r>
              <a:rPr lang="en-US" altLang="ko-KR" sz="2400" dirty="0" err="1">
                <a:solidFill>
                  <a:schemeClr val="bg1"/>
                </a:solidFill>
              </a:rPr>
              <a:t>js</a:t>
            </a:r>
            <a:r>
              <a:rPr lang="ko-KR" altLang="en-US" sz="2400" dirty="0">
                <a:solidFill>
                  <a:schemeClr val="bg1"/>
                </a:solidFill>
              </a:rPr>
              <a:t> 데이터베이스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r>
              <a:rPr lang="ko-KR" altLang="en-US" sz="2400" dirty="0">
                <a:solidFill>
                  <a:schemeClr val="bg1"/>
                </a:solidFill>
              </a:rPr>
              <a:t>생성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pic>
        <p:nvPicPr>
          <p:cNvPr id="4" name="그림 3" descr="텍스트, 스크린샷, 의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0B4795B-42C5-2587-00D3-0DF634BD10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92468"/>
            <a:ext cx="7406030" cy="536553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BACA6BF-68C9-443B-B073-92F2A663E368}"/>
              </a:ext>
            </a:extLst>
          </p:cNvPr>
          <p:cNvSpPr txBox="1"/>
          <p:nvPr/>
        </p:nvSpPr>
        <p:spPr>
          <a:xfrm>
            <a:off x="7630510" y="519099"/>
            <a:ext cx="4046484" cy="6182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C678DD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products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[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남성 푸마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하이록스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클라우드스펀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후디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engName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"M PUMA X HYROX CLOUDSPUN HOODIE"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price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129000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category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의류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mainImages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"./images/id1/main1.avif"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"./images/id1/main2.avif"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"./images/id1/main3.avif"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"./images/id1/main4.avif"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"./images/id1/main5.avif"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"./images/id1/main6.avif"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"./images/id1/main7.avif"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colorOptions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[{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"./images/id1/colors1.avif"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"Gray"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}, {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"./images/id1/colors2.avif"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"Black"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intro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전 세계 피트니스 레이스를 대표하는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HYROX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PUMA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기술력이 결합된 퍼포먼스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후디입니다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최소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50% 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이상의 재활용 소재 사용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수분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흡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속건 기능의 </a:t>
            </a:r>
            <a:r>
              <a:rPr lang="en-US" altLang="ko-KR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dryCELL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"4-way 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스트레치 슈퍼 소프트 원단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material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쉘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78%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폴리에스터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16%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리오셀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6%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엘라스테인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careInstructions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인쇄부분 다림질 금지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섬유 유연제 사용 금지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뒤집어 세탁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},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C319E2F-7998-5DE6-73E9-8E3C135EDA16}"/>
              </a:ext>
            </a:extLst>
          </p:cNvPr>
          <p:cNvSpPr/>
          <p:nvPr/>
        </p:nvSpPr>
        <p:spPr>
          <a:xfrm>
            <a:off x="4913745" y="1836125"/>
            <a:ext cx="2359414" cy="4235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C3A7B58-A197-9239-EB14-75B491FC7996}"/>
              </a:ext>
            </a:extLst>
          </p:cNvPr>
          <p:cNvSpPr/>
          <p:nvPr/>
        </p:nvSpPr>
        <p:spPr>
          <a:xfrm>
            <a:off x="4834759" y="2459421"/>
            <a:ext cx="704192" cy="1439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2B3ECBA-A2AB-1C72-66A3-2BD0281F0419}"/>
              </a:ext>
            </a:extLst>
          </p:cNvPr>
          <p:cNvSpPr/>
          <p:nvPr/>
        </p:nvSpPr>
        <p:spPr>
          <a:xfrm>
            <a:off x="4847897" y="2863244"/>
            <a:ext cx="930165" cy="5375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F293E5B-C26F-E812-2743-3110B3535796}"/>
              </a:ext>
            </a:extLst>
          </p:cNvPr>
          <p:cNvSpPr/>
          <p:nvPr/>
        </p:nvSpPr>
        <p:spPr>
          <a:xfrm>
            <a:off x="4847897" y="5333443"/>
            <a:ext cx="2359414" cy="7830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1B27789-7660-28F6-2CF2-75CD244E9B1A}"/>
              </a:ext>
            </a:extLst>
          </p:cNvPr>
          <p:cNvSpPr/>
          <p:nvPr/>
        </p:nvSpPr>
        <p:spPr>
          <a:xfrm>
            <a:off x="5223800" y="6116463"/>
            <a:ext cx="1739303" cy="58561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32889B-7BA8-86BC-F7B1-828E34E090B3}"/>
              </a:ext>
            </a:extLst>
          </p:cNvPr>
          <p:cNvSpPr txBox="1"/>
          <p:nvPr/>
        </p:nvSpPr>
        <p:spPr>
          <a:xfrm>
            <a:off x="5661891" y="535899"/>
            <a:ext cx="1427256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상품별 객체 생성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2173CFB-881F-F97E-F95D-E0CA4D77EDC8}"/>
              </a:ext>
            </a:extLst>
          </p:cNvPr>
          <p:cNvSpPr/>
          <p:nvPr/>
        </p:nvSpPr>
        <p:spPr>
          <a:xfrm>
            <a:off x="7630510" y="572890"/>
            <a:ext cx="1337441" cy="2395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28ED040F-E748-C8D2-E404-7B7C12EC2FA2}"/>
              </a:ext>
            </a:extLst>
          </p:cNvPr>
          <p:cNvCxnSpPr>
            <a:cxnSpLocks/>
            <a:stCxn id="13" idx="3"/>
            <a:endCxn id="14" idx="1"/>
          </p:cNvCxnSpPr>
          <p:nvPr/>
        </p:nvCxnSpPr>
        <p:spPr>
          <a:xfrm>
            <a:off x="7089147" y="689788"/>
            <a:ext cx="541363" cy="287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31045617-5979-978D-78EB-72D08AA1A199}"/>
              </a:ext>
            </a:extLst>
          </p:cNvPr>
          <p:cNvSpPr txBox="1"/>
          <p:nvPr/>
        </p:nvSpPr>
        <p:spPr>
          <a:xfrm>
            <a:off x="7588759" y="13978"/>
            <a:ext cx="206499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data.js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36159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A0ABF-E2B6-67C1-0309-D91E0AF6F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2FCE96-62ED-6EB6-F930-74536D3813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213128-AAC9-A93E-099F-5B66C1FF4EB0}"/>
              </a:ext>
            </a:extLst>
          </p:cNvPr>
          <p:cNvSpPr txBox="1"/>
          <p:nvPr/>
        </p:nvSpPr>
        <p:spPr>
          <a:xfrm>
            <a:off x="449424" y="1108642"/>
            <a:ext cx="54580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상품 정보 불러오기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867C89-5CAE-5550-D356-C0815490921C}"/>
              </a:ext>
            </a:extLst>
          </p:cNvPr>
          <p:cNvSpPr txBox="1"/>
          <p:nvPr/>
        </p:nvSpPr>
        <p:spPr>
          <a:xfrm>
            <a:off x="4705450" y="437589"/>
            <a:ext cx="2567709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받은 </a:t>
            </a:r>
            <a:r>
              <a:rPr lang="en-US" altLang="ko-KR" sz="1400" dirty="0"/>
              <a:t>id</a:t>
            </a:r>
            <a:r>
              <a:rPr lang="ko-KR" altLang="en-US" sz="1400" dirty="0"/>
              <a:t>로 객체 속성을 받아와</a:t>
            </a:r>
            <a:r>
              <a:rPr lang="en-US" altLang="ko-KR" sz="1400" dirty="0" err="1"/>
              <a:t>innerHTML</a:t>
            </a:r>
            <a:r>
              <a:rPr lang="en-US" altLang="ko-KR" sz="1400" dirty="0"/>
              <a:t> </a:t>
            </a:r>
            <a:r>
              <a:rPr lang="ko-KR" altLang="en-US" sz="1400" dirty="0"/>
              <a:t>을 활용해 동적으로 변경</a:t>
            </a:r>
          </a:p>
        </p:txBody>
      </p:sp>
      <p:pic>
        <p:nvPicPr>
          <p:cNvPr id="6" name="그림 5" descr="텍스트, 스크린샷, 의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A00B813-EDA8-9781-07E6-0940C349AA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92468"/>
            <a:ext cx="7406030" cy="536553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E4BE215-E935-EF24-2247-B69E47425007}"/>
              </a:ext>
            </a:extLst>
          </p:cNvPr>
          <p:cNvSpPr txBox="1"/>
          <p:nvPr/>
        </p:nvSpPr>
        <p:spPr>
          <a:xfrm>
            <a:off x="7630510" y="519099"/>
            <a:ext cx="4046484" cy="6182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C678DD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products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[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남성 푸마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하이록스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클라우드스펀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후디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engName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"M PUMA X HYROX CLOUDSPUN HOODIE"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price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129000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category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의류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mainImages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"./images/id1/main1.avif"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"./images/id1/main2.avif"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"./images/id1/main3.avif"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"./images/id1/main4.avif"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"./images/id1/main5.avif"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"./images/id1/main6.avif"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"./images/id1/main7.avif"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colorOptions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[{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"./images/id1/colors1.avif"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"Gray"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}, {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"./images/id1/colors2.avif"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"Black"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intro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전 세계 피트니스 레이스를 대표하는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HYROX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PUMA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기술력이 결합된 퍼포먼스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후디입니다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최소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50% 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이상의 재활용 소재 사용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수분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흡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속건 기능의 </a:t>
            </a:r>
            <a:r>
              <a:rPr lang="en-US" altLang="ko-KR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dryCELL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"4-way 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스트레치 슈퍼 소프트 원단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material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쉘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78%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폴리에스터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16%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리오셀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6%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엘라스테인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careInstructions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인쇄부분 다림질 금지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섬유 유연제 사용 금지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뒤집어 세탁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},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8AE5CCE-E550-F5F6-BF34-3D6E0B436B9B}"/>
              </a:ext>
            </a:extLst>
          </p:cNvPr>
          <p:cNvSpPr/>
          <p:nvPr/>
        </p:nvSpPr>
        <p:spPr>
          <a:xfrm>
            <a:off x="4913745" y="1836125"/>
            <a:ext cx="2359414" cy="4235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99A94C9-E34F-4CE4-2F99-517D074AC19D}"/>
              </a:ext>
            </a:extLst>
          </p:cNvPr>
          <p:cNvSpPr/>
          <p:nvPr/>
        </p:nvSpPr>
        <p:spPr>
          <a:xfrm>
            <a:off x="4834759" y="2459421"/>
            <a:ext cx="704192" cy="1439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A99E980-E0AB-34A2-47B9-9C83E30B946F}"/>
              </a:ext>
            </a:extLst>
          </p:cNvPr>
          <p:cNvSpPr/>
          <p:nvPr/>
        </p:nvSpPr>
        <p:spPr>
          <a:xfrm>
            <a:off x="4847897" y="2863244"/>
            <a:ext cx="930165" cy="5375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0241F381-6070-7E15-004D-DDDC2D41AFBC}"/>
              </a:ext>
            </a:extLst>
          </p:cNvPr>
          <p:cNvCxnSpPr>
            <a:cxnSpLocks/>
          </p:cNvCxnSpPr>
          <p:nvPr/>
        </p:nvCxnSpPr>
        <p:spPr>
          <a:xfrm flipV="1">
            <a:off x="7273159" y="1345324"/>
            <a:ext cx="746234" cy="4908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4CCDE3CC-B817-A0AB-F18B-832CAC5E9CBA}"/>
              </a:ext>
            </a:extLst>
          </p:cNvPr>
          <p:cNvCxnSpPr>
            <a:cxnSpLocks/>
          </p:cNvCxnSpPr>
          <p:nvPr/>
        </p:nvCxnSpPr>
        <p:spPr>
          <a:xfrm flipV="1">
            <a:off x="7273159" y="1566041"/>
            <a:ext cx="746234" cy="27008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2F05312-F7BC-8462-784C-422F3B6D529D}"/>
              </a:ext>
            </a:extLst>
          </p:cNvPr>
          <p:cNvCxnSpPr>
            <a:cxnSpLocks/>
            <a:stCxn id="19" idx="3"/>
          </p:cNvCxnSpPr>
          <p:nvPr/>
        </p:nvCxnSpPr>
        <p:spPr>
          <a:xfrm flipV="1">
            <a:off x="5538951" y="1755228"/>
            <a:ext cx="2480442" cy="77617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C44D27F-9BAB-21F2-2672-7BF040CB532A}"/>
              </a:ext>
            </a:extLst>
          </p:cNvPr>
          <p:cNvCxnSpPr>
            <a:cxnSpLocks/>
            <a:stCxn id="20" idx="3"/>
          </p:cNvCxnSpPr>
          <p:nvPr/>
        </p:nvCxnSpPr>
        <p:spPr>
          <a:xfrm>
            <a:off x="5778062" y="3132014"/>
            <a:ext cx="2241331" cy="59915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5B3E6DF-C184-9C79-2B1A-E05E9A339D72}"/>
              </a:ext>
            </a:extLst>
          </p:cNvPr>
          <p:cNvSpPr txBox="1"/>
          <p:nvPr/>
        </p:nvSpPr>
        <p:spPr>
          <a:xfrm>
            <a:off x="7588759" y="13978"/>
            <a:ext cx="206499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data.js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2419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87D54-2CC3-39FE-D9A5-B58911821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2CEEBF-60C6-30CB-DCDC-A20C3EC70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DF6058-1CCD-F586-E9EA-C7901E813E2B}"/>
              </a:ext>
            </a:extLst>
          </p:cNvPr>
          <p:cNvSpPr txBox="1"/>
          <p:nvPr/>
        </p:nvSpPr>
        <p:spPr>
          <a:xfrm>
            <a:off x="449424" y="1108642"/>
            <a:ext cx="54580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다른 상품 보여주기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45958D-0339-26CD-10C0-C719A3A36F4F}"/>
              </a:ext>
            </a:extLst>
          </p:cNvPr>
          <p:cNvSpPr txBox="1"/>
          <p:nvPr/>
        </p:nvSpPr>
        <p:spPr>
          <a:xfrm>
            <a:off x="6096000" y="545310"/>
            <a:ext cx="1177159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Swiper </a:t>
            </a:r>
            <a:r>
              <a:rPr lang="ko-KR" altLang="en-US" sz="1400" dirty="0"/>
              <a:t>사용</a:t>
            </a:r>
          </a:p>
        </p:txBody>
      </p:sp>
      <p:pic>
        <p:nvPicPr>
          <p:cNvPr id="4" name="그림 3" descr="텍스트, 스크린샷, 의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6D38556-8909-9F8A-AB10-6241F97927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92468"/>
            <a:ext cx="7406030" cy="5365531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29BAA97F-1E86-034B-C962-F28214E3C1CC}"/>
              </a:ext>
            </a:extLst>
          </p:cNvPr>
          <p:cNvSpPr/>
          <p:nvPr/>
        </p:nvSpPr>
        <p:spPr>
          <a:xfrm>
            <a:off x="4884842" y="3870006"/>
            <a:ext cx="2521188" cy="110839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53B17F3F-FE49-74C9-DD93-1620853D5F78}"/>
              </a:ext>
            </a:extLst>
          </p:cNvPr>
          <p:cNvCxnSpPr>
            <a:cxnSpLocks/>
            <a:stCxn id="8" idx="3"/>
            <a:endCxn id="12" idx="1"/>
          </p:cNvCxnSpPr>
          <p:nvPr/>
        </p:nvCxnSpPr>
        <p:spPr>
          <a:xfrm flipV="1">
            <a:off x="7406030" y="3791527"/>
            <a:ext cx="814334" cy="63267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318F24A-F359-5503-A09C-A011AE63E4D3}"/>
              </a:ext>
            </a:extLst>
          </p:cNvPr>
          <p:cNvSpPr txBox="1"/>
          <p:nvPr/>
        </p:nvSpPr>
        <p:spPr>
          <a:xfrm>
            <a:off x="7406030" y="487845"/>
            <a:ext cx="206499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detail.css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3DCCEF9-EF68-C2C3-4806-50C3C889963F}"/>
              </a:ext>
            </a:extLst>
          </p:cNvPr>
          <p:cNvSpPr txBox="1"/>
          <p:nvPr/>
        </p:nvSpPr>
        <p:spPr>
          <a:xfrm>
            <a:off x="8220364" y="1016825"/>
            <a:ext cx="3759200" cy="5549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.swiper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width: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100</a:t>
            </a:r>
            <a:r>
              <a:rPr lang="en-US" altLang="ko-KR" sz="14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%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height: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auto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--swiper-navigation-size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25</a:t>
            </a:r>
            <a:r>
              <a:rPr lang="en-US" altLang="ko-KR" sz="14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px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--swiper-navigation-color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#000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margin-bottom: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60</a:t>
            </a:r>
            <a:r>
              <a:rPr lang="en-US" altLang="ko-KR" sz="14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px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  <a:p>
            <a:pPr>
              <a:lnSpc>
                <a:spcPts val="1650"/>
              </a:lnSpc>
              <a:buNone/>
            </a:pPr>
            <a:b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4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.swiper-slide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display: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flex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flex-direction: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column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font-size: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12</a:t>
            </a:r>
            <a:r>
              <a:rPr lang="en-US" altLang="ko-KR" sz="14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px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  <a:p>
            <a:pPr>
              <a:lnSpc>
                <a:spcPts val="1650"/>
              </a:lnSpc>
              <a:buNone/>
            </a:pPr>
            <a:b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4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.swiper-slide</a:t>
            </a:r>
            <a:r>
              <a:rPr lang="en-US" altLang="ko-KR" sz="14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4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img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width: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100</a:t>
            </a:r>
            <a:r>
              <a:rPr lang="en-US" altLang="ko-KR" sz="14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%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height: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auto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margin-bottom: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10</a:t>
            </a:r>
            <a:r>
              <a:rPr lang="en-US" altLang="ko-KR" sz="14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px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400" b="0" dirty="0" err="1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swiper-button-next</a:t>
            </a:r>
            <a:r>
              <a:rPr lang="en-US" altLang="ko-KR" sz="1400" b="0" dirty="0" err="1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:after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400" b="0" dirty="0" err="1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swiper-button-prev</a:t>
            </a:r>
            <a:r>
              <a:rPr lang="en-US" altLang="ko-KR" sz="1400" b="0" dirty="0" err="1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:after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font-weight: </a:t>
            </a:r>
            <a:r>
              <a:rPr lang="en-US" altLang="ko-KR" sz="14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900</a:t>
            </a: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4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903183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F4983-74B6-7FD7-F264-20FBCEC0F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D1B547-39C4-3273-287C-C19B195ECC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601891-F3AF-A345-AD19-E979D83B5635}"/>
              </a:ext>
            </a:extLst>
          </p:cNvPr>
          <p:cNvSpPr txBox="1"/>
          <p:nvPr/>
        </p:nvSpPr>
        <p:spPr>
          <a:xfrm>
            <a:off x="449424" y="1108642"/>
            <a:ext cx="54580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사이즈 선택 박스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AE0234-2B06-5955-8B1F-B5EFD8104ABF}"/>
              </a:ext>
            </a:extLst>
          </p:cNvPr>
          <p:cNvSpPr txBox="1"/>
          <p:nvPr/>
        </p:nvSpPr>
        <p:spPr>
          <a:xfrm>
            <a:off x="4433456" y="437588"/>
            <a:ext cx="2839704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r>
              <a:rPr lang="ko-KR" altLang="en-US" sz="1400" dirty="0"/>
              <a:t>카테고리에 따른 사이즈 박스 동적 변환</a:t>
            </a:r>
            <a:endParaRPr lang="en-US" altLang="ko-KR" sz="1400" dirty="0"/>
          </a:p>
          <a:p>
            <a:pPr algn="ctr"/>
            <a:r>
              <a:rPr lang="ko-KR" altLang="en-US" sz="1400" dirty="0"/>
              <a:t>의류 </a:t>
            </a:r>
            <a:r>
              <a:rPr lang="en-US" altLang="ko-KR" sz="1400" dirty="0"/>
              <a:t>/ </a:t>
            </a:r>
            <a:r>
              <a:rPr lang="ko-KR" altLang="en-US" sz="1400" dirty="0"/>
              <a:t>신발 </a:t>
            </a:r>
            <a:r>
              <a:rPr lang="en-US" altLang="ko-KR" sz="1400" dirty="0"/>
              <a:t>/ </a:t>
            </a:r>
            <a:r>
              <a:rPr lang="ko-KR" altLang="en-US" sz="1400" dirty="0"/>
              <a:t>용품</a:t>
            </a:r>
          </a:p>
        </p:txBody>
      </p:sp>
      <p:pic>
        <p:nvPicPr>
          <p:cNvPr id="4" name="그림 3" descr="텍스트, 스크린샷, 의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08CC2F6-AA29-5969-8880-25F19A4453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92468"/>
            <a:ext cx="7406030" cy="536553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C5473D0-C7E3-7BD1-5F68-E1AC81C5C52A}"/>
              </a:ext>
            </a:extLst>
          </p:cNvPr>
          <p:cNvSpPr txBox="1"/>
          <p:nvPr/>
        </p:nvSpPr>
        <p:spPr>
          <a:xfrm>
            <a:off x="7630510" y="519099"/>
            <a:ext cx="4046484" cy="6182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C678DD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5C07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products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[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남성 푸마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하이록스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클라우드스펀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후디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engName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"M PUMA X HYROX CLOUDSPUN HOODIE"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price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D19A6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129000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category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의류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mainImages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"./images/id1/main1.avif"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"./images/id1/main2.avif"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"./images/id1/main3.avif"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"./images/id1/main4.avif"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"./images/id1/main5.avif"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"./images/id1/main6.avif"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"./images/id1/main7.avif"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colorOptions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[{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"./images/id1/colors1.avif"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"Gray"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}, {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"./images/id1/colors2.avif"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"Black"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intro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전 세계 피트니스 레이스를 대표하는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HYROX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PUMA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기술력이 결합된 퍼포먼스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후디입니다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최소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50% 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이상의 재활용 소재 사용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수분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흡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속건 기능의 </a:t>
            </a:r>
            <a:r>
              <a:rPr lang="en-US" altLang="ko-KR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dryCELL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"4-way 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스트레치 슈퍼 소프트 원단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material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쉘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78%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폴리에스터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16%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리오셀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6% </a:t>
            </a:r>
            <a:r>
              <a:rPr lang="ko-KR" altLang="en-US" sz="1200" b="0" dirty="0" err="1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엘라스테인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careInstructions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[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인쇄부분 다림질 금지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섬유 유연제 사용 금지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뒤집어 세탁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},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65A6C7F-2497-F7F6-6729-B5B0D1D8E39E}"/>
              </a:ext>
            </a:extLst>
          </p:cNvPr>
          <p:cNvSpPr/>
          <p:nvPr/>
        </p:nvSpPr>
        <p:spPr>
          <a:xfrm>
            <a:off x="4847897" y="5333443"/>
            <a:ext cx="2359414" cy="7830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7AFCCA34-8110-1914-2072-CDA44BB8EC3D}"/>
              </a:ext>
            </a:extLst>
          </p:cNvPr>
          <p:cNvCxnSpPr>
            <a:cxnSpLocks/>
          </p:cNvCxnSpPr>
          <p:nvPr/>
        </p:nvCxnSpPr>
        <p:spPr>
          <a:xfrm flipV="1">
            <a:off x="7207311" y="2102069"/>
            <a:ext cx="1085351" cy="362606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직사각형 8">
            <a:extLst>
              <a:ext uri="{FF2B5EF4-FFF2-40B4-BE49-F238E27FC236}">
                <a16:creationId xmlns:a16="http://schemas.microsoft.com/office/drawing/2014/main" id="{D15C3666-5826-21E7-4977-24F1C781D20D}"/>
              </a:ext>
            </a:extLst>
          </p:cNvPr>
          <p:cNvSpPr/>
          <p:nvPr/>
        </p:nvSpPr>
        <p:spPr>
          <a:xfrm>
            <a:off x="7997058" y="1862521"/>
            <a:ext cx="1337441" cy="2395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AB8384-C833-B096-9CFE-1E8F685F39A9}"/>
              </a:ext>
            </a:extLst>
          </p:cNvPr>
          <p:cNvSpPr txBox="1"/>
          <p:nvPr/>
        </p:nvSpPr>
        <p:spPr>
          <a:xfrm>
            <a:off x="7588759" y="13978"/>
            <a:ext cx="206499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data.js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45441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856C6-E0E7-68DE-87CE-56506E158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E674D9-D1D0-3357-2D03-3792EFDA12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D8A614-4CA9-5622-421F-ECFAA6EFC566}"/>
              </a:ext>
            </a:extLst>
          </p:cNvPr>
          <p:cNvSpPr txBox="1"/>
          <p:nvPr/>
        </p:nvSpPr>
        <p:spPr>
          <a:xfrm>
            <a:off x="449424" y="1108642"/>
            <a:ext cx="54580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상품 정보 불러오기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F0603B-8C46-E821-896A-7FDBA509ADAE}"/>
              </a:ext>
            </a:extLst>
          </p:cNvPr>
          <p:cNvSpPr txBox="1"/>
          <p:nvPr/>
        </p:nvSpPr>
        <p:spPr>
          <a:xfrm>
            <a:off x="3888510" y="437588"/>
            <a:ext cx="3384650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장바구니 추가 버튼을 누르면</a:t>
            </a:r>
            <a:endParaRPr lang="en-US" altLang="ko-KR" sz="1400" dirty="0"/>
          </a:p>
          <a:p>
            <a:pPr algn="ctr"/>
            <a:r>
              <a:rPr lang="ko-KR" altLang="en-US" sz="1400" dirty="0"/>
              <a:t>상품 </a:t>
            </a:r>
            <a:r>
              <a:rPr lang="en-US" altLang="ko-KR" sz="1400" dirty="0"/>
              <a:t>id, </a:t>
            </a:r>
            <a:r>
              <a:rPr lang="ko-KR" altLang="en-US" sz="1400" dirty="0"/>
              <a:t>사이즈</a:t>
            </a:r>
            <a:r>
              <a:rPr lang="en-US" altLang="ko-KR" sz="1400" dirty="0"/>
              <a:t>, </a:t>
            </a:r>
            <a:r>
              <a:rPr lang="ko-KR" altLang="en-US" sz="1400" dirty="0"/>
              <a:t>수량</a:t>
            </a:r>
            <a:r>
              <a:rPr lang="en-US" altLang="ko-KR" sz="1400" dirty="0"/>
              <a:t> </a:t>
            </a:r>
            <a:r>
              <a:rPr lang="ko-KR" altLang="en-US" sz="1400" dirty="0"/>
              <a:t>정보를 </a:t>
            </a:r>
            <a:r>
              <a:rPr lang="en-US" altLang="ko-KR" sz="1400" dirty="0"/>
              <a:t>cart.html</a:t>
            </a:r>
            <a:r>
              <a:rPr lang="ko-KR" altLang="en-US" sz="1400" dirty="0"/>
              <a:t>로 전송함</a:t>
            </a:r>
          </a:p>
        </p:txBody>
      </p:sp>
      <p:pic>
        <p:nvPicPr>
          <p:cNvPr id="4" name="그림 3" descr="텍스트, 스크린샷, 의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F2C086F-80B0-081A-8CAE-7AFFCC8B69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92468"/>
            <a:ext cx="7406030" cy="5365531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110F84B2-5176-8FEA-69F9-689A7697AE21}"/>
              </a:ext>
            </a:extLst>
          </p:cNvPr>
          <p:cNvSpPr/>
          <p:nvPr/>
        </p:nvSpPr>
        <p:spPr>
          <a:xfrm>
            <a:off x="5226348" y="6116463"/>
            <a:ext cx="1739303" cy="34783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595F30-50A1-DC1B-0A6F-AC38ABAB0609}"/>
              </a:ext>
            </a:extLst>
          </p:cNvPr>
          <p:cNvSpPr txBox="1"/>
          <p:nvPr/>
        </p:nvSpPr>
        <p:spPr>
          <a:xfrm>
            <a:off x="7535918" y="880319"/>
            <a:ext cx="4482371" cy="55289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1.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현재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URL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에서 상품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ID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가져오기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ko-KR" altLang="en-US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productId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parseInt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params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get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"id"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));</a:t>
            </a:r>
          </a:p>
          <a:p>
            <a:pPr>
              <a:lnSpc>
                <a:spcPts val="1650"/>
              </a:lnSpc>
              <a:buNone/>
            </a:pP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2.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선택된 사이즈 가져오기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라디오 버튼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ko-KR" altLang="en-US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selectedSizeElement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document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querySelector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'input[name="product-size"]:checked'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3.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선택된 수량 가져오기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드롭다운 버튼의 텍스트 숫자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ko-KR" altLang="en-US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quantityText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document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querySelector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'.drop-</a:t>
            </a:r>
            <a:r>
              <a:rPr lang="en-US" altLang="ko-KR" sz="1200" b="0" dirty="0" err="1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btn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'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).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innerText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trim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();</a:t>
            </a: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ko-KR" altLang="en-US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기존 장바구니 데이터를 가져오거나 없으면 빈 배열 생성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ko-KR" altLang="en-US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let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cartStorage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JSON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parse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localStorage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getItem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"cart"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))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||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[];</a:t>
            </a:r>
          </a:p>
          <a:p>
            <a:pPr>
              <a:lnSpc>
                <a:spcPts val="1650"/>
              </a:lnSpc>
              <a:buNone/>
            </a:pP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동일한 상품 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ID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와 동일한 사이즈가 이미 있는지 확인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ko-KR" altLang="en-US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existingItemIndex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cartStorage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findIndex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  (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item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item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===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productId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&amp;&amp;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item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selectedSize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===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selectedSize</a:t>
            </a: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68CFC1-74E0-DEA2-5D66-F2DCD46BC8E9}"/>
              </a:ext>
            </a:extLst>
          </p:cNvPr>
          <p:cNvSpPr txBox="1"/>
          <p:nvPr/>
        </p:nvSpPr>
        <p:spPr>
          <a:xfrm>
            <a:off x="7588759" y="13978"/>
            <a:ext cx="206499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detail.js</a:t>
            </a:r>
            <a:endParaRPr lang="ko-KR" altLang="en-US" dirty="0">
              <a:solidFill>
                <a:schemeClr val="bg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B22B4F30-6C50-0932-F0D7-F933AA5C5700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6965651" y="3644794"/>
            <a:ext cx="570267" cy="247166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51872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63658-48B7-962C-709C-7DDDF89D03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711813-05AD-5D2E-FDDF-5B98AC3F8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FCBC3A-A6D8-F318-C2A1-D2B395AE5902}"/>
              </a:ext>
            </a:extLst>
          </p:cNvPr>
          <p:cNvSpPr txBox="1"/>
          <p:nvPr/>
        </p:nvSpPr>
        <p:spPr>
          <a:xfrm>
            <a:off x="449424" y="1108642"/>
            <a:ext cx="54580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 err="1">
                <a:solidFill>
                  <a:schemeClr val="bg1"/>
                </a:solidFill>
              </a:rPr>
              <a:t>상품평</a:t>
            </a:r>
            <a:r>
              <a:rPr lang="ko-KR" altLang="en-US" sz="2400" dirty="0">
                <a:solidFill>
                  <a:schemeClr val="bg1"/>
                </a:solidFill>
              </a:rPr>
              <a:t> </a:t>
            </a:r>
            <a:r>
              <a:rPr lang="ko-KR" altLang="en-US" sz="2400" dirty="0" err="1">
                <a:solidFill>
                  <a:schemeClr val="bg1"/>
                </a:solidFill>
              </a:rPr>
              <a:t>팝업창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pic>
        <p:nvPicPr>
          <p:cNvPr id="4" name="그림 3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0E36FB7-AA41-4E60-5C92-57E7F3AAB96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004" r="12123"/>
          <a:stretch>
            <a:fillRect/>
          </a:stretch>
        </p:blipFill>
        <p:spPr>
          <a:xfrm>
            <a:off x="0" y="1673772"/>
            <a:ext cx="7609722" cy="502571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E392025-CA9D-1E39-7946-F7B26D1EB0CC}"/>
              </a:ext>
            </a:extLst>
          </p:cNvPr>
          <p:cNvSpPr txBox="1"/>
          <p:nvPr/>
        </p:nvSpPr>
        <p:spPr>
          <a:xfrm>
            <a:off x="8146473" y="1673772"/>
            <a:ext cx="3851564" cy="44389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별을 클릭하면 </a:t>
            </a:r>
            <a:r>
              <a:rPr lang="ko-KR" altLang="en-US" sz="1200" b="0" dirty="0" err="1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모달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열기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stars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forEach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star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addEventListener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"click"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()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  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classList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"active"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});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하단 리뷰 등록 버튼 클릭 시 </a:t>
            </a:r>
            <a:r>
              <a:rPr lang="ko-KR" altLang="en-US" sz="1200" b="0" dirty="0" err="1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모달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열기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writeBtn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addEventListener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"click"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()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classList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"active"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}) 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닫기 버튼 클릭 시 </a:t>
            </a:r>
            <a:r>
              <a:rPr lang="ko-KR" altLang="en-US" sz="1200" b="0" dirty="0" err="1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모달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닫기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closeBtn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addEventListener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"click"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()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classList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remove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"active"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200" b="0" dirty="0" err="1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모달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바깥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배경</a:t>
            </a:r>
            <a:r>
              <a:rPr lang="en-US" altLang="ko-KR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</a:t>
            </a:r>
            <a:r>
              <a:rPr lang="ko-KR" altLang="en-US" sz="1200" b="0" dirty="0">
                <a:solidFill>
                  <a:srgbClr val="7F848E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클릭 시 닫기</a:t>
            </a:r>
            <a:endParaRPr lang="ko-KR" altLang="en-US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window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addEventListener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"click"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(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if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(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target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===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  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classList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remove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"active"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}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});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8EE078-5E05-2B09-6904-F4CE4E2B6CCF}"/>
              </a:ext>
            </a:extLst>
          </p:cNvPr>
          <p:cNvSpPr txBox="1"/>
          <p:nvPr/>
        </p:nvSpPr>
        <p:spPr>
          <a:xfrm>
            <a:off x="7609723" y="477494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detail.js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812B32-A808-9AB0-6305-F4EC56C60F46}"/>
              </a:ext>
            </a:extLst>
          </p:cNvPr>
          <p:cNvSpPr txBox="1"/>
          <p:nvPr/>
        </p:nvSpPr>
        <p:spPr>
          <a:xfrm>
            <a:off x="4368800" y="437589"/>
            <a:ext cx="2904360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리뷰 등록 버튼 또는 별을 클릭 시 </a:t>
            </a:r>
            <a:endParaRPr lang="en-US" altLang="ko-KR" sz="1400" dirty="0"/>
          </a:p>
          <a:p>
            <a:pPr algn="ctr"/>
            <a:r>
              <a:rPr lang="en-US" altLang="ko-KR" sz="1400" dirty="0"/>
              <a:t>active </a:t>
            </a:r>
            <a:r>
              <a:rPr lang="ko-KR" altLang="en-US" sz="1400" dirty="0"/>
              <a:t>클래스를 추가하여 창이 보이게 함</a:t>
            </a:r>
          </a:p>
        </p:txBody>
      </p:sp>
    </p:spTree>
    <p:extLst>
      <p:ext uri="{BB962C8B-B14F-4D97-AF65-F5344CB8AC3E}">
        <p14:creationId xmlns:p14="http://schemas.microsoft.com/office/powerpoint/2010/main" val="7532969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69F13-5A0E-E25E-C79B-FF139DBA7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5D34B2-816F-6FF5-6D9B-BF888B5612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47B0CE-DA28-6C8B-17BF-6CF6FC952F52}"/>
              </a:ext>
            </a:extLst>
          </p:cNvPr>
          <p:cNvSpPr txBox="1"/>
          <p:nvPr/>
        </p:nvSpPr>
        <p:spPr>
          <a:xfrm>
            <a:off x="449424" y="1108642"/>
            <a:ext cx="54580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</a:t>
            </a:r>
            <a:r>
              <a:rPr lang="en-US" altLang="ko-KR" sz="2400" dirty="0">
                <a:solidFill>
                  <a:schemeClr val="bg1"/>
                </a:solidFill>
              </a:rPr>
              <a:t> - </a:t>
            </a:r>
            <a:r>
              <a:rPr lang="ko-KR" altLang="en-US" sz="2400" dirty="0" err="1">
                <a:solidFill>
                  <a:schemeClr val="bg1"/>
                </a:solidFill>
              </a:rPr>
              <a:t>별점</a:t>
            </a:r>
            <a:r>
              <a:rPr lang="ko-KR" altLang="en-US" sz="2400" dirty="0">
                <a:solidFill>
                  <a:schemeClr val="bg1"/>
                </a:solidFill>
              </a:rPr>
              <a:t> 고정하기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B29044F-B8DE-6DC2-45E6-E5D66E967026}"/>
              </a:ext>
            </a:extLst>
          </p:cNvPr>
          <p:cNvSpPr txBox="1"/>
          <p:nvPr/>
        </p:nvSpPr>
        <p:spPr>
          <a:xfrm>
            <a:off x="4378036" y="437589"/>
            <a:ext cx="2895123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별 </a:t>
            </a:r>
            <a:r>
              <a:rPr lang="ko-KR" altLang="en-US" sz="1400" dirty="0" err="1"/>
              <a:t>클릭시</a:t>
            </a:r>
            <a:r>
              <a:rPr lang="ko-KR" altLang="en-US" sz="1400" dirty="0"/>
              <a:t> 해당 번째 별의 인덱스 만큼</a:t>
            </a:r>
            <a:endParaRPr lang="en-US" altLang="ko-KR" sz="1400" dirty="0"/>
          </a:p>
          <a:p>
            <a:pPr algn="ctr"/>
            <a:r>
              <a:rPr lang="ko-KR" altLang="en-US" sz="1400" dirty="0"/>
              <a:t>선택 클래스를 추가하여 </a:t>
            </a:r>
            <a:r>
              <a:rPr lang="ko-KR" altLang="en-US" sz="1400" dirty="0" err="1"/>
              <a:t>별점을</a:t>
            </a:r>
            <a:r>
              <a:rPr lang="ko-KR" altLang="en-US" sz="1400" dirty="0"/>
              <a:t> 고정한다</a:t>
            </a:r>
          </a:p>
        </p:txBody>
      </p:sp>
      <p:pic>
        <p:nvPicPr>
          <p:cNvPr id="4" name="그림 3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BCB8DCB-B324-B6B6-2747-AFEB505B07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004" r="12123"/>
          <a:stretch>
            <a:fillRect/>
          </a:stretch>
        </p:blipFill>
        <p:spPr>
          <a:xfrm>
            <a:off x="0" y="1673772"/>
            <a:ext cx="7609722" cy="5025715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E4860222-8254-0091-7E39-4F77327E549B}"/>
              </a:ext>
            </a:extLst>
          </p:cNvPr>
          <p:cNvSpPr/>
          <p:nvPr/>
        </p:nvSpPr>
        <p:spPr>
          <a:xfrm>
            <a:off x="1524384" y="3429000"/>
            <a:ext cx="1471064" cy="4422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7FCC6B-83CE-671C-16C1-8C69B72CC6BD}"/>
              </a:ext>
            </a:extLst>
          </p:cNvPr>
          <p:cNvSpPr txBox="1"/>
          <p:nvPr/>
        </p:nvSpPr>
        <p:spPr>
          <a:xfrm>
            <a:off x="7721601" y="2076179"/>
            <a:ext cx="4378036" cy="42208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function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initModalStarRating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modalStars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document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querySelectorAll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".modal-	ratings .stars div"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200" b="0" dirty="0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console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log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document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querySelectorAll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".modal-	ratings .stars div"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));</a:t>
            </a:r>
          </a:p>
          <a:p>
            <a:pPr>
              <a:lnSpc>
                <a:spcPts val="1650"/>
              </a:lnSpc>
              <a:buNone/>
            </a:pP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modalStars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forEach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((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index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)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star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addEventListener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"click"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()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modalStars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forEach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=&gt;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	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s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classList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remove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"selected"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));</a:t>
            </a:r>
          </a:p>
          <a:p>
            <a:pPr>
              <a:lnSpc>
                <a:spcPts val="1650"/>
              </a:lnSpc>
              <a:buNone/>
            </a:pP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let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D19A66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0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&lt;=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index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; 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++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  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modalStars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[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].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classList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add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"selected"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  }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});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});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4330C7-6EA3-1F66-B6B8-FBE04E27EEBF}"/>
              </a:ext>
            </a:extLst>
          </p:cNvPr>
          <p:cNvSpPr txBox="1"/>
          <p:nvPr/>
        </p:nvSpPr>
        <p:spPr>
          <a:xfrm>
            <a:off x="7609723" y="477494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detail.js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951570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34DCE8-F71D-D525-2013-88F7612DA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B532C5-AB98-58EF-AF38-B2EA5C2B6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B45942-5428-974E-1974-3916463D0462}"/>
              </a:ext>
            </a:extLst>
          </p:cNvPr>
          <p:cNvSpPr txBox="1"/>
          <p:nvPr/>
        </p:nvSpPr>
        <p:spPr>
          <a:xfrm>
            <a:off x="449424" y="1108642"/>
            <a:ext cx="54580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유효성 검사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0EEF3A-CF30-0751-C6D3-30901DBF7120}"/>
              </a:ext>
            </a:extLst>
          </p:cNvPr>
          <p:cNvSpPr txBox="1"/>
          <p:nvPr/>
        </p:nvSpPr>
        <p:spPr>
          <a:xfrm>
            <a:off x="4254912" y="437589"/>
            <a:ext cx="3018248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r>
              <a:rPr lang="ko-KR" altLang="en-US" sz="1400" dirty="0"/>
              <a:t>프론트 시험에서의 유효성 검사와 같은 로직</a:t>
            </a:r>
            <a:r>
              <a:rPr lang="en-US" altLang="ko-KR" sz="1400" dirty="0"/>
              <a:t>.</a:t>
            </a:r>
          </a:p>
          <a:p>
            <a:pPr algn="ctr"/>
            <a:r>
              <a:rPr lang="ko-KR" altLang="en-US" sz="1400" dirty="0"/>
              <a:t>등록이 완료되면 </a:t>
            </a:r>
            <a:r>
              <a:rPr lang="ko-KR" altLang="en-US" sz="1400" dirty="0" err="1"/>
              <a:t>모달</a:t>
            </a:r>
            <a:r>
              <a:rPr lang="ko-KR" altLang="en-US" sz="1400" dirty="0"/>
              <a:t> 창을 닫는다</a:t>
            </a:r>
          </a:p>
        </p:txBody>
      </p:sp>
      <p:pic>
        <p:nvPicPr>
          <p:cNvPr id="4" name="그림 3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3C42948-AFCE-F63D-2AF4-1A24B3AC789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004" r="12123"/>
          <a:stretch>
            <a:fillRect/>
          </a:stretch>
        </p:blipFill>
        <p:spPr>
          <a:xfrm>
            <a:off x="0" y="1673772"/>
            <a:ext cx="7609722" cy="5025715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9111C2D2-9652-2B09-D209-5C1D0FECA370}"/>
              </a:ext>
            </a:extLst>
          </p:cNvPr>
          <p:cNvSpPr/>
          <p:nvPr/>
        </p:nvSpPr>
        <p:spPr>
          <a:xfrm>
            <a:off x="1579324" y="4207410"/>
            <a:ext cx="4415076" cy="14452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EFE3D8-5BC7-366F-F1B2-489029F5639C}"/>
              </a:ext>
            </a:extLst>
          </p:cNvPr>
          <p:cNvSpPr txBox="1"/>
          <p:nvPr/>
        </p:nvSpPr>
        <p:spPr>
          <a:xfrm>
            <a:off x="7777018" y="1955346"/>
            <a:ext cx="4414982" cy="3784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function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checkValidity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(){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content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document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getElementById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"review-	content"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const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title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document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getElementById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"review-title"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endParaRPr lang="en-US" altLang="ko-KR" sz="1200" b="0" dirty="0">
              <a:solidFill>
                <a:srgbClr val="ABB2BF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if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content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==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alert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내용을 입력하세요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}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else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if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title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value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==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alert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제목을 입력하세요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}</a:t>
            </a:r>
            <a:r>
              <a:rPr lang="en-US" altLang="ko-KR" sz="1200" b="0" dirty="0">
                <a:solidFill>
                  <a:srgbClr val="C678DD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else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>
                <a:solidFill>
                  <a:srgbClr val="56B6C2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alert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</a:t>
            </a:r>
            <a:r>
              <a:rPr lang="ko-KR" altLang="en-US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리뷰 등록을 완료했습니다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  </a:t>
            </a:r>
            <a:r>
              <a:rPr lang="en-US" altLang="ko-KR" sz="1200" b="0" dirty="0" err="1">
                <a:solidFill>
                  <a:srgbClr val="E5C07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document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querySelector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".modal-	background"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).</a:t>
            </a:r>
            <a:r>
              <a:rPr lang="en-US" altLang="ko-KR" sz="1200" b="0" dirty="0" err="1">
                <a:solidFill>
                  <a:srgbClr val="E06C75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classList</a:t>
            </a:r>
            <a:r>
              <a:rPr lang="en-US" altLang="ko-KR" sz="1200" b="0" dirty="0" err="1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200" b="0" dirty="0" err="1">
                <a:solidFill>
                  <a:srgbClr val="61AFE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remove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200" b="0" dirty="0">
                <a:solidFill>
                  <a:srgbClr val="98C379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"active"</a:t>
            </a: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);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  }</a:t>
            </a:r>
          </a:p>
          <a:p>
            <a:pPr>
              <a:lnSpc>
                <a:spcPts val="1650"/>
              </a:lnSpc>
              <a:buNone/>
            </a:pPr>
            <a:r>
              <a:rPr lang="en-US" altLang="ko-KR" sz="1200" b="0" dirty="0">
                <a:solidFill>
                  <a:srgbClr val="ABB2BF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A77C6E-7BBF-80A0-C7A3-5C7AB58D1C8A}"/>
              </a:ext>
            </a:extLst>
          </p:cNvPr>
          <p:cNvSpPr txBox="1"/>
          <p:nvPr/>
        </p:nvSpPr>
        <p:spPr>
          <a:xfrm>
            <a:off x="7609723" y="477494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detail.js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83212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35EC3-8BEF-A945-2A49-0A9073C79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22EF8D-3F41-359F-60C3-69806BF89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DE704A-B1CE-CE61-3473-E0EEF1089015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4" name="그림 3" descr="텍스트, 의류, 사람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D1E40A5-912C-2A09-075C-B79AFA33F1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021" y="1948214"/>
            <a:ext cx="5277054" cy="2961571"/>
          </a:xfrm>
          <a:prstGeom prst="rect">
            <a:avLst/>
          </a:prstGeom>
        </p:spPr>
      </p:pic>
      <p:pic>
        <p:nvPicPr>
          <p:cNvPr id="7" name="그림 6" descr="텍스트, 스크린샷, 소프트웨어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B270A13-50A2-864E-DECE-7CBB28DE0E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79" y="362949"/>
            <a:ext cx="5277054" cy="2955311"/>
          </a:xfrm>
          <a:prstGeom prst="rect">
            <a:avLst/>
          </a:prstGeom>
        </p:spPr>
      </p:pic>
      <p:pic>
        <p:nvPicPr>
          <p:cNvPr id="8" name="그림 7" descr="텍스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6B681C-C753-2F9C-833C-05F5BB67CE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79" y="3523194"/>
            <a:ext cx="5277054" cy="2971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7672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8C45E7F-E962-65FD-AB9A-C1C1EB3E75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0778" y="4005277"/>
            <a:ext cx="4988505" cy="2677853"/>
          </a:xfrm>
          <a:prstGeom prst="rect">
            <a:avLst/>
          </a:prstGeom>
        </p:spPr>
      </p:pic>
      <p:pic>
        <p:nvPicPr>
          <p:cNvPr id="15" name="그림 14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2F741B7-0B83-DE63-E3D4-3E21122020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0778" y="1757063"/>
            <a:ext cx="4991797" cy="2248214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95C2D9F4-3290-452E-8232-7DB2BCA89A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55427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CE5572-CA8F-8B69-2FAD-310DF0BD3B48}"/>
              </a:ext>
            </a:extLst>
          </p:cNvPr>
          <p:cNvSpPr txBox="1"/>
          <p:nvPr/>
        </p:nvSpPr>
        <p:spPr>
          <a:xfrm>
            <a:off x="449425" y="1117878"/>
            <a:ext cx="49917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상품 정보 가져오기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4A2E2E-161B-82B1-7C22-19BD4E4202C5}"/>
              </a:ext>
            </a:extLst>
          </p:cNvPr>
          <p:cNvSpPr txBox="1"/>
          <p:nvPr/>
        </p:nvSpPr>
        <p:spPr>
          <a:xfrm>
            <a:off x="4254912" y="329866"/>
            <a:ext cx="3018248" cy="738664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map</a:t>
            </a:r>
            <a:r>
              <a:rPr lang="ko-KR" altLang="en-US" sz="1400" dirty="0"/>
              <a:t>함수 활용</a:t>
            </a:r>
            <a:endParaRPr lang="en-US" altLang="ko-KR" sz="1400" dirty="0"/>
          </a:p>
          <a:p>
            <a:pPr algn="ctr"/>
            <a:r>
              <a:rPr lang="en-US" altLang="ko-KR" sz="1400" dirty="0"/>
              <a:t> -&gt; </a:t>
            </a:r>
            <a:r>
              <a:rPr lang="ko-KR" altLang="en-US" sz="1400" dirty="0"/>
              <a:t>저장된 </a:t>
            </a:r>
            <a:r>
              <a:rPr lang="en-US" altLang="ko-KR" sz="1400" dirty="0"/>
              <a:t>id</a:t>
            </a:r>
            <a:r>
              <a:rPr lang="ko-KR" altLang="en-US" sz="1400" dirty="0"/>
              <a:t>와 같은 </a:t>
            </a:r>
            <a:r>
              <a:rPr lang="en-US" altLang="ko-KR" sz="1400" dirty="0"/>
              <a:t>id</a:t>
            </a:r>
            <a:r>
              <a:rPr lang="ko-KR" altLang="en-US" sz="1400" dirty="0"/>
              <a:t>를 </a:t>
            </a:r>
            <a:r>
              <a:rPr lang="en-US" altLang="ko-KR" sz="1400" dirty="0"/>
              <a:t>product</a:t>
            </a:r>
            <a:r>
              <a:rPr lang="ko-KR" altLang="en-US" sz="1400" dirty="0"/>
              <a:t>에서 찾고 사용자가 선택한 수량과 사이즈를 가져옴</a:t>
            </a:r>
            <a:endParaRPr lang="en-US" altLang="ko-KR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590152D-1520-081B-1410-2056EA73103A}"/>
              </a:ext>
            </a:extLst>
          </p:cNvPr>
          <p:cNvSpPr txBox="1"/>
          <p:nvPr/>
        </p:nvSpPr>
        <p:spPr>
          <a:xfrm>
            <a:off x="7618960" y="1185651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cart.js</a:t>
            </a:r>
            <a:endParaRPr lang="ko-KR" altLang="en-US" dirty="0">
              <a:solidFill>
                <a:schemeClr val="bg1"/>
              </a:solidFill>
            </a:endParaRPr>
          </a:p>
        </p:txBody>
      </p:sp>
      <p:pic>
        <p:nvPicPr>
          <p:cNvPr id="11" name="그림 10" descr="텍스트, 스크린샷, 신발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C42EB41-63BA-CE6D-9E70-BED0CE89B7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691" y="1757063"/>
            <a:ext cx="5933309" cy="4898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271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그림 21" descr="텍스트, 스크린샷, 신발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19D26E5-90EE-F345-38AE-56D16F2624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691" y="1757063"/>
            <a:ext cx="5933309" cy="4898261"/>
          </a:xfrm>
          <a:prstGeom prst="rect">
            <a:avLst/>
          </a:prstGeom>
        </p:spPr>
      </p:pic>
      <p:pic>
        <p:nvPicPr>
          <p:cNvPr id="13" name="그림 12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CB127C9-0C71-4B51-AAC4-CA668DDC28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7373" y="1757063"/>
            <a:ext cx="5602607" cy="3658111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0A47959B-0B6B-7E7E-601C-A70053AAACD7}"/>
              </a:ext>
            </a:extLst>
          </p:cNvPr>
          <p:cNvCxnSpPr>
            <a:cxnSpLocks/>
          </p:cNvCxnSpPr>
          <p:nvPr/>
        </p:nvCxnSpPr>
        <p:spPr>
          <a:xfrm>
            <a:off x="2105982" y="4421420"/>
            <a:ext cx="4285582" cy="2983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제목 1">
            <a:extLst>
              <a:ext uri="{FF2B5EF4-FFF2-40B4-BE49-F238E27FC236}">
                <a16:creationId xmlns:a16="http://schemas.microsoft.com/office/drawing/2014/main" id="{FD4167EC-ECC1-E7E1-A955-85E63C7BE1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5A41B1-2FBB-5165-B29B-705265C85BF6}"/>
              </a:ext>
            </a:extLst>
          </p:cNvPr>
          <p:cNvSpPr txBox="1"/>
          <p:nvPr/>
        </p:nvSpPr>
        <p:spPr>
          <a:xfrm>
            <a:off x="449425" y="1108642"/>
            <a:ext cx="37900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수량 변경하기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9594FE-93FA-B385-330D-193C941B40C3}"/>
              </a:ext>
            </a:extLst>
          </p:cNvPr>
          <p:cNvSpPr txBox="1"/>
          <p:nvPr/>
        </p:nvSpPr>
        <p:spPr>
          <a:xfrm>
            <a:off x="4244090" y="347010"/>
            <a:ext cx="3018248" cy="1169551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 err="1"/>
              <a:t>updateStorage</a:t>
            </a:r>
            <a:r>
              <a:rPr lang="en-US" altLang="ko-KR" sz="1400" dirty="0"/>
              <a:t>()</a:t>
            </a:r>
            <a:r>
              <a:rPr lang="ko-KR" altLang="en-US" sz="1400" dirty="0"/>
              <a:t>를 통해 </a:t>
            </a:r>
            <a:endParaRPr lang="en-US" altLang="ko-KR" sz="1400" dirty="0"/>
          </a:p>
          <a:p>
            <a:pPr algn="ctr"/>
            <a:r>
              <a:rPr lang="ko-KR" altLang="en-US" sz="1400" dirty="0"/>
              <a:t>변경된 내용을 </a:t>
            </a:r>
            <a:r>
              <a:rPr lang="ko-KR" altLang="en-US" sz="1400" dirty="0" err="1"/>
              <a:t>동기화시킴</a:t>
            </a:r>
            <a:r>
              <a:rPr lang="en-US" altLang="ko-KR" sz="1400" dirty="0"/>
              <a:t>.</a:t>
            </a:r>
          </a:p>
          <a:p>
            <a:pPr algn="ctr"/>
            <a:r>
              <a:rPr lang="en-US" altLang="ko-KR" sz="1400" dirty="0"/>
              <a:t> -&gt; </a:t>
            </a:r>
            <a:r>
              <a:rPr lang="en-US" altLang="ko-KR" sz="1400" dirty="0" err="1"/>
              <a:t>item.price</a:t>
            </a:r>
            <a:r>
              <a:rPr lang="en-US" altLang="ko-KR" sz="1400" dirty="0"/>
              <a:t> * </a:t>
            </a:r>
            <a:r>
              <a:rPr lang="en-US" altLang="ko-KR" sz="1400" dirty="0" err="1"/>
              <a:t>item.quantity</a:t>
            </a:r>
            <a:endParaRPr lang="en-US" altLang="ko-KR" sz="1400" dirty="0"/>
          </a:p>
          <a:p>
            <a:pPr algn="ctr"/>
            <a:r>
              <a:rPr lang="ko-KR" altLang="en-US" sz="1400" dirty="0"/>
              <a:t>다시 계산 후 화면에 출력</a:t>
            </a:r>
            <a:endParaRPr lang="en-US" altLang="ko-KR" sz="1400" dirty="0"/>
          </a:p>
          <a:p>
            <a:pPr algn="ctr"/>
            <a:r>
              <a:rPr lang="en-US" altLang="ko-KR" sz="1400" dirty="0" err="1"/>
              <a:t>toLocaleString</a:t>
            </a:r>
            <a:r>
              <a:rPr lang="en-US" altLang="ko-KR" sz="1400" dirty="0"/>
              <a:t>() =&gt; </a:t>
            </a:r>
            <a:r>
              <a:rPr lang="ko-KR" altLang="en-US" sz="1400" dirty="0"/>
              <a:t>세 자리마다 콤마 추가</a:t>
            </a:r>
            <a:endParaRPr lang="en-US" altLang="ko-KR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78106D-B4E3-5B12-2941-6962FB19D1A9}"/>
              </a:ext>
            </a:extLst>
          </p:cNvPr>
          <p:cNvSpPr txBox="1"/>
          <p:nvPr/>
        </p:nvSpPr>
        <p:spPr>
          <a:xfrm>
            <a:off x="7609723" y="1215680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cart.js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84547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 descr="텍스트, 스크린샷, 신발류, 신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6B6EA4-7F98-2F58-8033-6B0DA11F7B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83" y="1766454"/>
            <a:ext cx="6306425" cy="282514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50D8271-185B-5220-01E0-FFCD1E97CD3F}"/>
              </a:ext>
            </a:extLst>
          </p:cNvPr>
          <p:cNvSpPr txBox="1"/>
          <p:nvPr/>
        </p:nvSpPr>
        <p:spPr>
          <a:xfrm>
            <a:off x="273378" y="2139885"/>
            <a:ext cx="461914" cy="461913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B1B64EDD-BC5B-E630-EAAA-4176D5BC954A}"/>
              </a:ext>
            </a:extLst>
          </p:cNvPr>
          <p:cNvCxnSpPr>
            <a:cxnSpLocks/>
            <a:stCxn id="15" idx="3"/>
            <a:endCxn id="22" idx="1"/>
          </p:cNvCxnSpPr>
          <p:nvPr/>
        </p:nvCxnSpPr>
        <p:spPr>
          <a:xfrm>
            <a:off x="735292" y="2370842"/>
            <a:ext cx="5918263" cy="7248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그림 21" descr="텍스트, 스크린샷, 소프트웨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F6F9D9C-1D4A-0B6B-C258-2CD44D304A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3555" y="1766454"/>
            <a:ext cx="5265067" cy="2658427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770A1821-6761-F01E-5627-4A2C3ADA15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5FBB5C-CEEC-B05E-1EE4-4ECA2829C377}"/>
              </a:ext>
            </a:extLst>
          </p:cNvPr>
          <p:cNvSpPr txBox="1"/>
          <p:nvPr/>
        </p:nvSpPr>
        <p:spPr>
          <a:xfrm>
            <a:off x="449425" y="1108642"/>
            <a:ext cx="33836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전체 삭제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2D3AA2-ABC7-FC03-48B5-F76191ADE009}"/>
              </a:ext>
            </a:extLst>
          </p:cNvPr>
          <p:cNvSpPr txBox="1"/>
          <p:nvPr/>
        </p:nvSpPr>
        <p:spPr>
          <a:xfrm>
            <a:off x="4091709" y="562453"/>
            <a:ext cx="3170629" cy="738664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r>
              <a:rPr lang="en-US" altLang="ko-KR" sz="1400" dirty="0" err="1"/>
              <a:t>removeItem</a:t>
            </a:r>
            <a:r>
              <a:rPr lang="ko-KR" altLang="en-US" sz="1400" dirty="0"/>
              <a:t>으로 저장소에 있는 데이터 제거</a:t>
            </a:r>
            <a:endParaRPr lang="en-US" altLang="ko-KR" sz="1400" dirty="0"/>
          </a:p>
          <a:p>
            <a:pPr algn="ctr"/>
            <a:r>
              <a:rPr lang="en-US" altLang="ko-KR" sz="1400" dirty="0"/>
              <a:t> -&gt; </a:t>
            </a:r>
            <a:r>
              <a:rPr lang="en-US" altLang="ko-KR" sz="1400" dirty="0" err="1"/>
              <a:t>renderCart</a:t>
            </a:r>
            <a:r>
              <a:rPr lang="en-US" altLang="ko-KR" sz="1400" dirty="0"/>
              <a:t>()</a:t>
            </a:r>
            <a:r>
              <a:rPr lang="ko-KR" altLang="en-US" sz="1400" dirty="0"/>
              <a:t>로 </a:t>
            </a:r>
            <a:r>
              <a:rPr lang="ko-KR" altLang="en-US" sz="1400" dirty="0" err="1"/>
              <a:t>비어있는</a:t>
            </a:r>
            <a:r>
              <a:rPr lang="ko-KR" altLang="en-US" sz="1400" dirty="0"/>
              <a:t> 상태에서 다시 </a:t>
            </a:r>
            <a:r>
              <a:rPr lang="en-US" altLang="ko-KR" sz="1400" dirty="0"/>
              <a:t>    </a:t>
            </a:r>
            <a:r>
              <a:rPr lang="ko-KR" altLang="en-US" sz="1400" dirty="0"/>
              <a:t>장바구니 그리기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C65A93-B221-0C8E-2BFA-B3DFA91E5EAB}"/>
              </a:ext>
            </a:extLst>
          </p:cNvPr>
          <p:cNvSpPr txBox="1"/>
          <p:nvPr/>
        </p:nvSpPr>
        <p:spPr>
          <a:xfrm>
            <a:off x="7655905" y="1301117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cart.js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12135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폰트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6139E5-5EF7-BD9D-FBA8-3DE332566E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9803" y="1766454"/>
            <a:ext cx="5532704" cy="1960774"/>
          </a:xfrm>
          <a:prstGeom prst="rect">
            <a:avLst/>
          </a:prstGeom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B9D16420-019D-188C-E159-BC216F6F93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555150-CE97-9194-94A9-A8EAB3059665}"/>
              </a:ext>
            </a:extLst>
          </p:cNvPr>
          <p:cNvSpPr txBox="1"/>
          <p:nvPr/>
        </p:nvSpPr>
        <p:spPr>
          <a:xfrm>
            <a:off x="449425" y="1108642"/>
            <a:ext cx="34852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선택 삭제</a:t>
            </a:r>
          </a:p>
        </p:txBody>
      </p:sp>
      <p:pic>
        <p:nvPicPr>
          <p:cNvPr id="9" name="그림 8" descr="텍스트, 스크린샷, 신발류, 신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552E47A-5BFD-1BF3-2DC9-BDF1AAB1E2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983" y="1766454"/>
            <a:ext cx="6306425" cy="282514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8D220F3-F2FE-DD3F-CE9F-58DDE0B90C53}"/>
              </a:ext>
            </a:extLst>
          </p:cNvPr>
          <p:cNvSpPr txBox="1"/>
          <p:nvPr/>
        </p:nvSpPr>
        <p:spPr>
          <a:xfrm>
            <a:off x="809087" y="2135785"/>
            <a:ext cx="461914" cy="461913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6E515934-5282-76A5-8422-01A98D0F25D8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1271001" y="2366742"/>
            <a:ext cx="5918263" cy="7248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3C0A378-AEED-0756-E384-39AB2611B065}"/>
              </a:ext>
            </a:extLst>
          </p:cNvPr>
          <p:cNvSpPr txBox="1"/>
          <p:nvPr/>
        </p:nvSpPr>
        <p:spPr>
          <a:xfrm>
            <a:off x="3426691" y="454731"/>
            <a:ext cx="3835647" cy="95410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r>
              <a:rPr lang="ko-KR" altLang="en-US" sz="1400" dirty="0"/>
              <a:t>체크박스에 선택된 내용을 </a:t>
            </a:r>
            <a:r>
              <a:rPr lang="en-US" altLang="ko-KR" sz="1400" dirty="0" err="1"/>
              <a:t>querySelectorAll</a:t>
            </a:r>
            <a:r>
              <a:rPr lang="ko-KR" altLang="en-US" sz="1400" dirty="0"/>
              <a:t>로 수집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checkbox</a:t>
            </a:r>
            <a:r>
              <a:rPr lang="ko-KR" altLang="en-US" sz="1400" dirty="0"/>
              <a:t>가 선택되지 않은 배열만 </a:t>
            </a:r>
            <a:endParaRPr lang="en-US" altLang="ko-KR" sz="1400" dirty="0"/>
          </a:p>
          <a:p>
            <a:pPr algn="ctr"/>
            <a:r>
              <a:rPr lang="en-US" altLang="ko-KR" sz="1400" dirty="0"/>
              <a:t>storage</a:t>
            </a:r>
            <a:r>
              <a:rPr lang="ko-KR" altLang="en-US" sz="1400" dirty="0"/>
              <a:t>에 저장 후 </a:t>
            </a:r>
            <a:r>
              <a:rPr lang="en-US" altLang="ko-KR" sz="1400" dirty="0" err="1"/>
              <a:t>renderCart</a:t>
            </a:r>
            <a:r>
              <a:rPr lang="en-US" altLang="ko-KR" sz="1400" dirty="0"/>
              <a:t>()</a:t>
            </a:r>
            <a:r>
              <a:rPr lang="ko-KR" altLang="en-US" sz="1400" dirty="0"/>
              <a:t>로 다시 장바구니 출력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37454B-4C9A-3ACB-B53A-C5C76FFBEF2E}"/>
              </a:ext>
            </a:extLst>
          </p:cNvPr>
          <p:cNvSpPr txBox="1"/>
          <p:nvPr/>
        </p:nvSpPr>
        <p:spPr>
          <a:xfrm>
            <a:off x="7637432" y="1277366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cart.js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69541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35413F-0C3A-039D-2C53-3DA4E3607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97A43EE-4BD6-773D-AD7C-CBB0DA9FB7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55043"/>
            <a:ext cx="4602881" cy="4793371"/>
          </a:xfrm>
          <a:prstGeom prst="rect">
            <a:avLst/>
          </a:prstGeom>
        </p:spPr>
      </p:pic>
      <p:pic>
        <p:nvPicPr>
          <p:cNvPr id="17" name="그림 1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F39B549-B3D4-6943-EF70-42EF072C09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9324" y="2663753"/>
            <a:ext cx="4739084" cy="4171044"/>
          </a:xfrm>
          <a:prstGeom prst="rect">
            <a:avLst/>
          </a:prstGeom>
        </p:spPr>
      </p:pic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72520BDE-3E67-BA81-E7C2-C291D351A809}"/>
              </a:ext>
            </a:extLst>
          </p:cNvPr>
          <p:cNvSpPr/>
          <p:nvPr/>
        </p:nvSpPr>
        <p:spPr>
          <a:xfrm>
            <a:off x="4602881" y="3203769"/>
            <a:ext cx="1082662" cy="772998"/>
          </a:xfrm>
          <a:prstGeom prst="rightArrow">
            <a:avLst>
              <a:gd name="adj1" fmla="val 40441"/>
              <a:gd name="adj2" fmla="val 50000"/>
            </a:avLst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그림 19" descr="텍스트, 스크린샷, 폰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7F629AA-47CD-E56E-1DBF-5B8931CA47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9983" y="955026"/>
            <a:ext cx="3048425" cy="160995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54870726-7A55-FD8D-C69E-9054DDDCB99B}"/>
              </a:ext>
            </a:extLst>
          </p:cNvPr>
          <p:cNvSpPr txBox="1"/>
          <p:nvPr/>
        </p:nvSpPr>
        <p:spPr>
          <a:xfrm>
            <a:off x="3990109" y="2192307"/>
            <a:ext cx="367821" cy="389462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E4E28E62-F954-2FA1-D2C3-12BED413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579D10-E463-98D8-F048-88471EBCE885}"/>
              </a:ext>
            </a:extLst>
          </p:cNvPr>
          <p:cNvSpPr txBox="1"/>
          <p:nvPr/>
        </p:nvSpPr>
        <p:spPr>
          <a:xfrm>
            <a:off x="449424" y="1108642"/>
            <a:ext cx="43325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 err="1">
                <a:solidFill>
                  <a:schemeClr val="bg1"/>
                </a:solidFill>
              </a:rPr>
              <a:t>쿠폰창</a:t>
            </a:r>
            <a:r>
              <a:rPr lang="ko-KR" altLang="en-US" sz="2400" dirty="0">
                <a:solidFill>
                  <a:schemeClr val="bg1"/>
                </a:solidFill>
              </a:rPr>
              <a:t> 숨기기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5E7193-8B0D-E059-FF49-4CF4AD63D3E0}"/>
              </a:ext>
            </a:extLst>
          </p:cNvPr>
          <p:cNvSpPr txBox="1"/>
          <p:nvPr/>
        </p:nvSpPr>
        <p:spPr>
          <a:xfrm>
            <a:off x="3426691" y="670174"/>
            <a:ext cx="3835647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화살표를 누르면 </a:t>
            </a:r>
            <a:r>
              <a:rPr lang="en-US" altLang="ko-KR" sz="1400" dirty="0"/>
              <a:t>hide</a:t>
            </a:r>
            <a:r>
              <a:rPr lang="ko-KR" altLang="en-US" sz="1400" dirty="0"/>
              <a:t>를 통해 </a:t>
            </a:r>
            <a:r>
              <a:rPr lang="en-US" altLang="ko-KR" sz="1400" dirty="0"/>
              <a:t>coupon-content</a:t>
            </a:r>
            <a:r>
              <a:rPr lang="ko-KR" altLang="en-US" sz="1400" dirty="0"/>
              <a:t>의 내용이 보이지 않고</a:t>
            </a:r>
            <a:r>
              <a:rPr lang="en-US" altLang="ko-KR" sz="1400" dirty="0"/>
              <a:t>, </a:t>
            </a:r>
            <a:r>
              <a:rPr lang="ko-KR" altLang="en-US" sz="1400" dirty="0"/>
              <a:t>화살표의 방향이 변경</a:t>
            </a:r>
            <a:r>
              <a:rPr lang="en-US" altLang="ko-KR" sz="1400" dirty="0"/>
              <a:t>(rotate)</a:t>
            </a:r>
            <a:r>
              <a:rPr lang="ko-KR" altLang="en-US" sz="1400" dirty="0"/>
              <a:t>됨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5FE57C-7029-B06E-55BA-56942C3560E1}"/>
              </a:ext>
            </a:extLst>
          </p:cNvPr>
          <p:cNvSpPr txBox="1"/>
          <p:nvPr/>
        </p:nvSpPr>
        <p:spPr>
          <a:xfrm>
            <a:off x="7609723" y="477494"/>
            <a:ext cx="1035514" cy="4482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cart.css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35786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9DFB3F-DFAC-9A70-7FCC-A165E40438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5624" y="2379004"/>
            <a:ext cx="5349360" cy="3559773"/>
          </a:xfrm>
          <a:prstGeom prst="rect">
            <a:avLst/>
          </a:prstGeom>
        </p:spPr>
      </p:pic>
      <p:pic>
        <p:nvPicPr>
          <p:cNvPr id="13" name="내용 개체 틀 1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E53459D-E10A-6B60-E456-4507C16C0A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38201" y="4158891"/>
            <a:ext cx="3679959" cy="2545281"/>
          </a:xfrm>
          <a:prstGeom prst="rect">
            <a:avLst/>
          </a:prstGeom>
        </p:spPr>
      </p:pic>
      <p:pic>
        <p:nvPicPr>
          <p:cNvPr id="11" name="그림 10" descr="텍스트, 의류, 스크린샷, 패션 액세서리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FCAC0F1-40C3-B90A-1119-6FD154BAAA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202" y="1570307"/>
            <a:ext cx="3679959" cy="2486815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4B4D11C4-10D6-25E5-2B6A-691A02123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0EF201-038B-F3A0-0B1F-2A2A93B87053}"/>
              </a:ext>
            </a:extLst>
          </p:cNvPr>
          <p:cNvSpPr txBox="1"/>
          <p:nvPr/>
        </p:nvSpPr>
        <p:spPr>
          <a:xfrm>
            <a:off x="449424" y="1108642"/>
            <a:ext cx="44108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총 상품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r>
              <a:rPr lang="ko-KR" altLang="en-US" sz="2400" dirty="0">
                <a:solidFill>
                  <a:schemeClr val="bg1"/>
                </a:solidFill>
              </a:rPr>
              <a:t>및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r>
              <a:rPr lang="ko-KR" altLang="en-US" sz="2400" dirty="0">
                <a:solidFill>
                  <a:schemeClr val="bg1"/>
                </a:solidFill>
              </a:rPr>
              <a:t>결제 금액 계산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D21604C-643D-16FD-1EF4-EFD70EAB8C5B}"/>
              </a:ext>
            </a:extLst>
          </p:cNvPr>
          <p:cNvSpPr txBox="1"/>
          <p:nvPr/>
        </p:nvSpPr>
        <p:spPr>
          <a:xfrm>
            <a:off x="7038108" y="434148"/>
            <a:ext cx="4246787" cy="738664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r>
              <a:rPr lang="ko-KR" altLang="en-US" sz="1400" dirty="0"/>
              <a:t>총 상품금액</a:t>
            </a:r>
            <a:endParaRPr lang="en-US" altLang="ko-KR" sz="1400" dirty="0"/>
          </a:p>
          <a:p>
            <a:r>
              <a:rPr lang="en-US" altLang="ko-KR" sz="1400" dirty="0"/>
              <a:t>-&gt; sum</a:t>
            </a:r>
            <a:r>
              <a:rPr lang="ko-KR" altLang="en-US" sz="1400" dirty="0"/>
              <a:t> 초기값 </a:t>
            </a:r>
            <a:r>
              <a:rPr lang="en-US" altLang="ko-KR" sz="1400" dirty="0"/>
              <a:t>0</a:t>
            </a:r>
            <a:r>
              <a:rPr lang="ko-KR" altLang="en-US" sz="1400" dirty="0"/>
              <a:t>으로 설정 후 각 상품의 가격과 수량을 곱한</a:t>
            </a:r>
            <a:r>
              <a:rPr lang="en-US" altLang="ko-KR" sz="1400" dirty="0"/>
              <a:t> </a:t>
            </a:r>
            <a:r>
              <a:rPr lang="ko-KR" altLang="en-US" sz="1400" dirty="0"/>
              <a:t>값</a:t>
            </a:r>
            <a:endParaRPr lang="en-US" altLang="ko-KR" sz="1400" dirty="0"/>
          </a:p>
          <a:p>
            <a:r>
              <a:rPr lang="en-US" altLang="ko-KR" sz="1400" dirty="0"/>
              <a:t>reduce() = </a:t>
            </a:r>
            <a:r>
              <a:rPr lang="ko-KR" altLang="en-US" sz="1400" dirty="0"/>
              <a:t>배열의 값 계산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E93B96-B4CF-6C4D-CABF-DF1F66E64644}"/>
              </a:ext>
            </a:extLst>
          </p:cNvPr>
          <p:cNvSpPr txBox="1"/>
          <p:nvPr/>
        </p:nvSpPr>
        <p:spPr>
          <a:xfrm>
            <a:off x="8718086" y="1852504"/>
            <a:ext cx="1035514" cy="4482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cart.js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981CEE-72A5-161C-7789-7D23B9DBFA05}"/>
              </a:ext>
            </a:extLst>
          </p:cNvPr>
          <p:cNvSpPr txBox="1"/>
          <p:nvPr/>
        </p:nvSpPr>
        <p:spPr>
          <a:xfrm>
            <a:off x="7038108" y="1251048"/>
            <a:ext cx="4246787" cy="523220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r>
              <a:rPr lang="ko-KR" altLang="en-US" sz="1400" dirty="0"/>
              <a:t>총 결제금액</a:t>
            </a:r>
            <a:endParaRPr lang="en-US" altLang="ko-KR" sz="1400" dirty="0"/>
          </a:p>
          <a:p>
            <a:r>
              <a:rPr lang="en-US" altLang="ko-KR" sz="1400" dirty="0"/>
              <a:t>-&gt; </a:t>
            </a:r>
            <a:r>
              <a:rPr lang="ko-KR" altLang="en-US" sz="1400" dirty="0"/>
              <a:t>총 상품금액에서 배송비를 더하고</a:t>
            </a:r>
            <a:r>
              <a:rPr lang="en-US" altLang="ko-KR" sz="1400" dirty="0"/>
              <a:t>, </a:t>
            </a:r>
            <a:r>
              <a:rPr lang="ko-KR" altLang="en-US" sz="1400" dirty="0"/>
              <a:t>총 할인금액을 뺀 값</a:t>
            </a:r>
          </a:p>
        </p:txBody>
      </p:sp>
    </p:spTree>
    <p:extLst>
      <p:ext uri="{BB962C8B-B14F-4D97-AF65-F5344CB8AC3E}">
        <p14:creationId xmlns:p14="http://schemas.microsoft.com/office/powerpoint/2010/main" val="270476272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내용 개체 틀 4" descr="텍스트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000EB33-1A22-91B2-76AF-F0B5CB93D2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26452" y="3110218"/>
            <a:ext cx="10515600" cy="3474163"/>
          </a:xfrm>
          <a:prstGeom prst="rect">
            <a:avLst/>
          </a:prstGeom>
        </p:spPr>
      </p:pic>
      <p:pic>
        <p:nvPicPr>
          <p:cNvPr id="7" name="그림 6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D7BA712-6F60-9AA4-7798-45047C7A85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7149" y="1733852"/>
            <a:ext cx="5934903" cy="1212821"/>
          </a:xfrm>
          <a:prstGeom prst="rect">
            <a:avLst/>
          </a:prstGeom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EC2BBF3A-81DD-430E-4248-4A9BB4819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E0AE92-69BD-FE53-701E-BC20F43F7F77}"/>
              </a:ext>
            </a:extLst>
          </p:cNvPr>
          <p:cNvSpPr txBox="1"/>
          <p:nvPr/>
        </p:nvSpPr>
        <p:spPr>
          <a:xfrm>
            <a:off x="449424" y="1108642"/>
            <a:ext cx="23491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배송비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3EB36D-4119-77CA-6124-3272FA21A188}"/>
              </a:ext>
            </a:extLst>
          </p:cNvPr>
          <p:cNvSpPr txBox="1"/>
          <p:nvPr/>
        </p:nvSpPr>
        <p:spPr>
          <a:xfrm>
            <a:off x="3592945" y="913416"/>
            <a:ext cx="3489441" cy="738664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400" dirty="0"/>
              <a:t>배송비</a:t>
            </a:r>
            <a:endParaRPr lang="en-US" altLang="ko-KR" sz="1400" dirty="0"/>
          </a:p>
          <a:p>
            <a:pPr algn="ctr"/>
            <a:r>
              <a:rPr lang="en-US" altLang="ko-KR" sz="1400" dirty="0"/>
              <a:t> -&gt; </a:t>
            </a:r>
            <a:r>
              <a:rPr lang="ko-KR" altLang="en-US" sz="1400" dirty="0"/>
              <a:t>총 상품금액이 </a:t>
            </a:r>
            <a:r>
              <a:rPr lang="en-US" altLang="ko-KR" sz="1400" dirty="0"/>
              <a:t>10</a:t>
            </a:r>
            <a:r>
              <a:rPr lang="ko-KR" altLang="en-US" sz="1400" dirty="0"/>
              <a:t>만원 이상이거나 상품이 없으면 배송비 </a:t>
            </a:r>
            <a:r>
              <a:rPr lang="en-US" altLang="ko-KR" sz="1400" dirty="0"/>
              <a:t>0</a:t>
            </a:r>
            <a:r>
              <a:rPr lang="ko-KR" altLang="en-US" sz="1400" dirty="0"/>
              <a:t>원</a:t>
            </a:r>
            <a:r>
              <a:rPr lang="en-US" altLang="ko-KR" sz="1400" dirty="0"/>
              <a:t>, </a:t>
            </a:r>
            <a:r>
              <a:rPr lang="ko-KR" altLang="en-US" sz="1400" dirty="0"/>
              <a:t>아니면 배송비 </a:t>
            </a:r>
            <a:r>
              <a:rPr lang="en-US" altLang="ko-KR" sz="1400" dirty="0"/>
              <a:t>3,000</a:t>
            </a:r>
            <a:r>
              <a:rPr lang="ko-KR" altLang="en-US" sz="1400" dirty="0"/>
              <a:t>원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A3F288-D828-859C-59EB-28BB827354A3}"/>
              </a:ext>
            </a:extLst>
          </p:cNvPr>
          <p:cNvSpPr txBox="1"/>
          <p:nvPr/>
        </p:nvSpPr>
        <p:spPr>
          <a:xfrm>
            <a:off x="7683614" y="1197788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cart.js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64772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04CD3-6A60-C463-92A4-545BF5FFB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EA8B7FF-89F2-ED09-2DFB-9E973AEB0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3721" y="604726"/>
            <a:ext cx="4224641" cy="1745095"/>
          </a:xfrm>
          <a:prstGeom prst="rect">
            <a:avLst/>
          </a:prstGeom>
        </p:spPr>
      </p:pic>
      <p:pic>
        <p:nvPicPr>
          <p:cNvPr id="5" name="내용 개체 틀 4" descr="스크린샷, 신발, 텍스트, 스니커즈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800692-3009-C33F-B491-0C86E64006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376328" y="4073787"/>
            <a:ext cx="6673381" cy="2373194"/>
          </a:xfrm>
          <a:prstGeom prst="rect">
            <a:avLst/>
          </a:prstGeom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8C83FFCC-D496-A2AF-5C44-BDE24134B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F83F30-2B9E-BED4-45DC-0480F9B70F08}"/>
              </a:ext>
            </a:extLst>
          </p:cNvPr>
          <p:cNvSpPr txBox="1"/>
          <p:nvPr/>
        </p:nvSpPr>
        <p:spPr>
          <a:xfrm>
            <a:off x="449424" y="1108642"/>
            <a:ext cx="36330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다른 상품 슬라이더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830C23-4740-2282-AECC-7ED786DE6E88}"/>
              </a:ext>
            </a:extLst>
          </p:cNvPr>
          <p:cNvSpPr txBox="1"/>
          <p:nvPr/>
        </p:nvSpPr>
        <p:spPr>
          <a:xfrm>
            <a:off x="4040559" y="719353"/>
            <a:ext cx="3027623" cy="30777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20% </a:t>
            </a:r>
            <a:r>
              <a:rPr lang="ko-KR" altLang="en-US" sz="1400" dirty="0"/>
              <a:t>에 인덱스를 곱한 값만큼 </a:t>
            </a:r>
            <a:r>
              <a:rPr lang="en-US" altLang="ko-KR" sz="1400" dirty="0"/>
              <a:t>translate</a:t>
            </a:r>
            <a:endParaRPr lang="ko-KR" altLang="en-US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3ADAEBB-091C-C84A-0372-1B3713591E22}"/>
              </a:ext>
            </a:extLst>
          </p:cNvPr>
          <p:cNvSpPr txBox="1"/>
          <p:nvPr/>
        </p:nvSpPr>
        <p:spPr>
          <a:xfrm>
            <a:off x="7480936" y="136093"/>
            <a:ext cx="1035514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</a:rPr>
              <a:t>cart.js</a:t>
            </a:r>
            <a:endParaRPr lang="ko-KR" altLang="en-US" dirty="0">
              <a:solidFill>
                <a:schemeClr val="bg1"/>
              </a:solidFill>
            </a:endParaRPr>
          </a:p>
        </p:txBody>
      </p:sp>
      <p:pic>
        <p:nvPicPr>
          <p:cNvPr id="12" name="그림 11" descr="텍스트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F5A1B1-F3CF-2E09-1710-EB7A29923D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2328" y="2432758"/>
            <a:ext cx="4107426" cy="425078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411C2B2-260F-AC1D-8646-E0AD47CB9E6C}"/>
              </a:ext>
            </a:extLst>
          </p:cNvPr>
          <p:cNvSpPr txBox="1"/>
          <p:nvPr/>
        </p:nvSpPr>
        <p:spPr>
          <a:xfrm>
            <a:off x="3435133" y="2432758"/>
            <a:ext cx="3633049" cy="138499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next</a:t>
            </a:r>
          </a:p>
          <a:p>
            <a:pPr marL="285750" indent="-285750" algn="ctr">
              <a:buFont typeface="Symbol" panose="05050102010706020507" pitchFamily="18" charset="2"/>
              <a:buChar char="Þ"/>
            </a:pPr>
            <a:r>
              <a:rPr lang="en-US" altLang="ko-KR" sz="1400" dirty="0" err="1"/>
              <a:t>listcount</a:t>
            </a:r>
            <a:r>
              <a:rPr lang="en-US" altLang="ko-KR" sz="1400" dirty="0"/>
              <a:t> – </a:t>
            </a:r>
            <a:r>
              <a:rPr lang="en-US" altLang="ko-KR" sz="1400" dirty="0" err="1"/>
              <a:t>itemshow</a:t>
            </a:r>
            <a:r>
              <a:rPr lang="ko-KR" altLang="en-US" sz="1400" dirty="0"/>
              <a:t>가 </a:t>
            </a:r>
            <a:r>
              <a:rPr lang="en-US" altLang="ko-KR" sz="1400" dirty="0"/>
              <a:t>index</a:t>
            </a:r>
            <a:r>
              <a:rPr lang="ko-KR" altLang="en-US" sz="1400" dirty="0"/>
              <a:t>보다 작아지면 다시 왼쪽으로 돌아옴</a:t>
            </a:r>
            <a:endParaRPr lang="en-US" altLang="ko-KR" sz="1400" dirty="0"/>
          </a:p>
          <a:p>
            <a:pPr algn="ctr"/>
            <a:endParaRPr lang="en-US" altLang="ko-KR" sz="1400" dirty="0"/>
          </a:p>
          <a:p>
            <a:pPr algn="ctr"/>
            <a:r>
              <a:rPr lang="en-US" altLang="ko-KR" sz="1400" dirty="0" err="1"/>
              <a:t>prev</a:t>
            </a:r>
            <a:endParaRPr lang="en-US" altLang="ko-KR" sz="1400" dirty="0"/>
          </a:p>
          <a:p>
            <a:pPr marL="285750" indent="-285750" algn="ctr">
              <a:buFont typeface="Symbol" panose="05050102010706020507" pitchFamily="18" charset="2"/>
              <a:buChar char="Þ"/>
            </a:pPr>
            <a:r>
              <a:rPr lang="ko-KR" altLang="en-US" sz="1400" dirty="0"/>
              <a:t>인덱스가 </a:t>
            </a:r>
            <a:r>
              <a:rPr lang="en-US" altLang="ko-KR" sz="1400" dirty="0"/>
              <a:t>0</a:t>
            </a:r>
            <a:r>
              <a:rPr lang="ko-KR" altLang="en-US" sz="1400" dirty="0"/>
              <a:t>보다 작아지면 맨 </a:t>
            </a:r>
            <a:r>
              <a:rPr lang="ko-KR" altLang="en-US" sz="1400" dirty="0" err="1"/>
              <a:t>오른쪽으로이동</a:t>
            </a:r>
            <a:endParaRPr lang="en-US" altLang="ko-KR" sz="1400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355E5C32-70EB-0E65-157C-06FBDD5E3490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7068182" y="873242"/>
            <a:ext cx="295539" cy="6040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9EB049CA-3FA1-2492-AAF8-6A1A60A58098}"/>
              </a:ext>
            </a:extLst>
          </p:cNvPr>
          <p:cNvCxnSpPr>
            <a:cxnSpLocks/>
            <a:stCxn id="13" idx="3"/>
            <a:endCxn id="12" idx="1"/>
          </p:cNvCxnSpPr>
          <p:nvPr/>
        </p:nvCxnSpPr>
        <p:spPr>
          <a:xfrm>
            <a:off x="7068182" y="3125256"/>
            <a:ext cx="354146" cy="14328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86921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사용자 지정 1">
      <a:majorFont>
        <a:latin typeface="Do Hyeon"/>
        <a:ea typeface="Do Hyeon"/>
        <a:cs typeface=""/>
      </a:majorFont>
      <a:minorFont>
        <a:latin typeface="Do Hyeon"/>
        <a:ea typeface="Do Hyeo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</TotalTime>
  <Words>1958</Words>
  <Application>Microsoft Office PowerPoint</Application>
  <PresentationFormat>와이드스크린</PresentationFormat>
  <Paragraphs>280</Paragraphs>
  <Slides>32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39" baseType="lpstr">
      <vt:lpstr>D2Coding</vt:lpstr>
      <vt:lpstr>D2Coding ligature</vt:lpstr>
      <vt:lpstr>Do Hyeon</vt:lpstr>
      <vt:lpstr>맑은 고딕</vt:lpstr>
      <vt:lpstr>Arial</vt:lpstr>
      <vt:lpstr>Symbol</vt:lpstr>
      <vt:lpstr>Office 테마</vt:lpstr>
      <vt:lpstr>PowerPoint 프레젠테이션</vt:lpstr>
      <vt:lpstr>목차</vt:lpstr>
      <vt:lpstr>프로젝트 개요</vt:lpstr>
      <vt:lpstr>프로젝트 개요</vt:lpstr>
      <vt:lpstr>설계 페이지</vt:lpstr>
      <vt:lpstr>index.html</vt:lpstr>
      <vt:lpstr>index.html</vt:lpstr>
      <vt:lpstr>index.html</vt:lpstr>
      <vt:lpstr>index.html</vt:lpstr>
      <vt:lpstr>index.html</vt:lpstr>
      <vt:lpstr>product.html</vt:lpstr>
      <vt:lpstr>product.html</vt:lpstr>
      <vt:lpstr>product.html</vt:lpstr>
      <vt:lpstr>detail.html</vt:lpstr>
      <vt:lpstr>detail.html</vt:lpstr>
      <vt:lpstr>detail.html</vt:lpstr>
      <vt:lpstr>detail.html</vt:lpstr>
      <vt:lpstr>detail.html</vt:lpstr>
      <vt:lpstr>detail.html</vt:lpstr>
      <vt:lpstr>detail.html</vt:lpstr>
      <vt:lpstr>detail.html</vt:lpstr>
      <vt:lpstr>detail.html</vt:lpstr>
      <vt:lpstr>detail.html</vt:lpstr>
      <vt:lpstr>cart.html</vt:lpstr>
      <vt:lpstr>cart.html</vt:lpstr>
      <vt:lpstr>cart.html</vt:lpstr>
      <vt:lpstr>cart.html</vt:lpstr>
      <vt:lpstr>cart.html</vt:lpstr>
      <vt:lpstr>cart.html</vt:lpstr>
      <vt:lpstr>cart.html</vt:lpstr>
      <vt:lpstr>cart.html</vt:lpstr>
      <vt:lpstr>cart.html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현겸 이</dc:creator>
  <cp:lastModifiedBy>현겸 이</cp:lastModifiedBy>
  <cp:revision>8</cp:revision>
  <dcterms:created xsi:type="dcterms:W3CDTF">2026-02-25T02:04:35Z</dcterms:created>
  <dcterms:modified xsi:type="dcterms:W3CDTF">2026-02-25T06:22:22Z</dcterms:modified>
</cp:coreProperties>
</file>